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2" r:id="rId33"/>
    <p:sldId id="283" r:id="rId34"/>
    <p:sldId id="284" r:id="rId35"/>
    <p:sldId id="285" r:id="rId36"/>
    <p:sldId id="286" r:id="rId37"/>
    <p:sldId id="287" r:id="rId38"/>
    <p:sldId id="319" r:id="rId63"/>
    <p:sldId id="273" r:id="rId19"/>
    <p:sldId id="274" r:id="rId20"/>
    <p:sldId id="302" r:id="rId46"/>
    <p:sldId id="303" r:id="rId47"/>
    <p:sldId id="304" r:id="rId48"/>
    <p:sldId id="305" r:id="rId49"/>
    <p:sldId id="306" r:id="rId50"/>
    <p:sldId id="307" r:id="rId51"/>
    <p:sldId id="275" r:id="rId21"/>
    <p:sldId id="276" r:id="rId22"/>
    <p:sldId id="308" r:id="rId52"/>
    <p:sldId id="309" r:id="rId53"/>
    <p:sldId id="310" r:id="rId54"/>
    <p:sldId id="311" r:id="rId55"/>
    <p:sldId id="312" r:id="rId56"/>
    <p:sldId id="313" r:id="rId57"/>
    <p:sldId id="277" r:id="rId23"/>
    <p:sldId id="278" r:id="rId24"/>
    <p:sldId id="314" r:id="rId58"/>
    <p:sldId id="315" r:id="rId59"/>
    <p:sldId id="316" r:id="rId60"/>
    <p:sldId id="333" r:id="rId45"/>
    <p:sldId id="317" r:id="rId61"/>
    <p:sldId id="334" r:id="rId44"/>
    <p:sldId id="335" r:id="rId43"/>
    <p:sldId id="336" r:id="rId42"/>
    <p:sldId id="318" r:id="rId62"/>
    <p:sldId id="279" r:id="rId25"/>
    <p:sldId id="280" r:id="rId26"/>
    <p:sldId id="320" r:id="rId64"/>
    <p:sldId id="321" r:id="rId65"/>
    <p:sldId id="322" r:id="rId66"/>
    <p:sldId id="329" r:id="rId73"/>
    <p:sldId id="323" r:id="rId67"/>
    <p:sldId id="324" r:id="rId68"/>
    <p:sldId id="330" r:id="rId74"/>
    <p:sldId id="327" r:id="rId71"/>
    <p:sldId id="328" r:id="rId72"/>
    <p:sldId id="331" r:id="rId75"/>
    <p:sldId id="325" r:id="rId69"/>
    <p:sldId id="326" r:id="rId70"/>
    <p:sldId id="332" r:id="rId7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6.xml"/><Relationship Id="rId22" Type="http://schemas.openxmlformats.org/officeDocument/2006/relationships/slide" Target="slides/slide27.xml"/><Relationship Id="rId23" Type="http://schemas.openxmlformats.org/officeDocument/2006/relationships/slide" Target="slides/slide34.xml"/><Relationship Id="rId24" Type="http://schemas.openxmlformats.org/officeDocument/2006/relationships/slide" Target="slides/slide35.xml"/><Relationship Id="rId25" Type="http://schemas.openxmlformats.org/officeDocument/2006/relationships/slide" Target="slides/slide45.xml"/><Relationship Id="rId26" Type="http://schemas.openxmlformats.org/officeDocument/2006/relationships/slide" Target="slides/slide46.xml"/><Relationship Id="rId27" Type="http://schemas.openxmlformats.org/officeDocument/2006/relationships/slide" Target="slides/slide60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42" Type="http://schemas.openxmlformats.org/officeDocument/2006/relationships/slide" Target="slides/slide43.xml"/><Relationship Id="rId43" Type="http://schemas.openxmlformats.org/officeDocument/2006/relationships/slide" Target="slides/slide42.xml"/><Relationship Id="rId44" Type="http://schemas.openxmlformats.org/officeDocument/2006/relationships/slide" Target="slides/slide41.xml"/><Relationship Id="rId45" Type="http://schemas.openxmlformats.org/officeDocument/2006/relationships/slide" Target="slides/slide3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4" Type="http://schemas.openxmlformats.org/officeDocument/2006/relationships/slide" Target="slides/slide30.xml"/><Relationship Id="rId55" Type="http://schemas.openxmlformats.org/officeDocument/2006/relationships/slide" Target="slides/slide31.xml"/><Relationship Id="rId56" Type="http://schemas.openxmlformats.org/officeDocument/2006/relationships/slide" Target="slides/slide32.xml"/><Relationship Id="rId57" Type="http://schemas.openxmlformats.org/officeDocument/2006/relationships/slide" Target="slides/slide33.xml"/><Relationship Id="rId58" Type="http://schemas.openxmlformats.org/officeDocument/2006/relationships/slide" Target="slides/slide36.xml"/><Relationship Id="rId59" Type="http://schemas.openxmlformats.org/officeDocument/2006/relationships/slide" Target="slides/slide37.xml"/><Relationship Id="rId60" Type="http://schemas.openxmlformats.org/officeDocument/2006/relationships/slide" Target="slides/slide38.xml"/><Relationship Id="rId61" Type="http://schemas.openxmlformats.org/officeDocument/2006/relationships/slide" Target="slides/slide40.xml"/><Relationship Id="rId62" Type="http://schemas.openxmlformats.org/officeDocument/2006/relationships/slide" Target="slides/slide44.xml"/><Relationship Id="rId63" Type="http://schemas.openxmlformats.org/officeDocument/2006/relationships/slide" Target="slides/slide17.xml"/><Relationship Id="rId64" Type="http://schemas.openxmlformats.org/officeDocument/2006/relationships/slide" Target="slides/slide47.xml"/><Relationship Id="rId65" Type="http://schemas.openxmlformats.org/officeDocument/2006/relationships/slide" Target="slides/slide48.xml"/><Relationship Id="rId66" Type="http://schemas.openxmlformats.org/officeDocument/2006/relationships/slide" Target="slides/slide49.xml"/><Relationship Id="rId67" Type="http://schemas.openxmlformats.org/officeDocument/2006/relationships/slide" Target="slides/slide51.xml"/><Relationship Id="rId68" Type="http://schemas.openxmlformats.org/officeDocument/2006/relationships/slide" Target="slides/slide52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4.xml"/><Relationship Id="rId72" Type="http://schemas.openxmlformats.org/officeDocument/2006/relationships/slide" Target="slides/slide55.xml"/><Relationship Id="rId73" Type="http://schemas.openxmlformats.org/officeDocument/2006/relationships/slide" Target="slides/slide50.xml"/><Relationship Id="rId74" Type="http://schemas.openxmlformats.org/officeDocument/2006/relationships/slide" Target="slides/slide53.xml"/><Relationship Id="rId75" Type="http://schemas.openxmlformats.org/officeDocument/2006/relationships/slide" Target="slides/slide56.xml"/><Relationship Id="rId7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🏥 병원 예약 &amp; 내부 업무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사용자별 화면 스토리보드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863840" cy="36576"/>
          </a:xfrm>
          <a:prstGeom prst="rect">
            <a:avLst/>
          </a:prstGeom>
          <a:solidFill>
            <a:srgbClr val="1C5473"/>
          </a:solidFill>
          <a:ln w="12700">
            <a:solidFill>
              <a:srgbClr val="1C54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51760"/>
            <a:ext cx="13258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환자 (비로그인)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75688" y="2651760"/>
            <a:ext cx="13258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75688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접수 직원 (STAFF)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11296" y="2651760"/>
            <a:ext cx="13258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11296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의사 (DOCTOR)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46904" y="2651760"/>
            <a:ext cx="1325880" cy="34747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46904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간호사 (NURSE)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82512" y="2651760"/>
            <a:ext cx="1325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물품 담당자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18120" y="2651760"/>
            <a:ext cx="13258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2651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관리자 (ADMIN)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B"/>
                </a:solidFill>
              </a:rPr>
              <a:t>화면 정의서 v3.0  ·  총 33개 화면  ·  6가지 사용자 역할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B"/>
                </a:solidFill>
              </a:rPr>
              <a:t>Spring Boot  ·  Mustache SSR  ·  Spring Security  ·  Claude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사용자 유형 &amp; 접근 권한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6가지 역할 — 각자 고유한 화면 영역과 접근 권한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6060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2880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🏥  환자 (비로그인)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화면 00~04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비회원 공개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로그인 불필요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AI 추천 예약 / 직접 예약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27248" y="182880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27248" y="1828800"/>
            <a:ext cx="26060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82880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 접수 직원 (STAFF)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18688" y="2121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화면 06~10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18688" y="2340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ROLE_STAFF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18688" y="2532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접수 처리·전화예약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방문 접수 등록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4456" y="182880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34456" y="1828800"/>
            <a:ext cx="26060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182880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🩺  의사 (DOCTOR)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25896" y="2121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화면 11~13 + C1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25896" y="2340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ROLE_DOCTOR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25896" y="25328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진료 기록 입력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병원 규칙 Q&amp;A 챗봇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38328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83280"/>
            <a:ext cx="260604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38328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💊  간호사 (NURSE)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675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B2777"/>
                </a:solidFill>
              </a:rPr>
              <a:t>화면 14~16 + C1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895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ROLE_NURSE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4087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예약 현황·환자 관리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재고 모니터링·챗봇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27248" y="338328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27248" y="3383280"/>
            <a:ext cx="26060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38328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📦  물품 담당자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18688" y="3675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화면 17·27~29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18688" y="3895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ROLE_ADMIN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18688" y="4087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물품 CRUD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재고 현황 관리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34456" y="338328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34456" y="3383280"/>
            <a:ext cx="26060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7608" y="338328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🛡️  관리자 (ADMIN)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25896" y="3675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화면 17~32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25896" y="3895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ROLE_ADMIN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25896" y="40873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전체 시스템 관리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직원·규칙·진료과 CRUD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🏥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환자 (비로그인)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비회원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증상에 맞는 진료과를 추천받거나 직접 선택해 예약 완료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00  ·  화면 02  ·  화면 03  ·  화면 04  ·  화면 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🏥 환자 (비로그인)  —  화면 여정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증상에 맞는 진료과를 추천받거나 직접 선택해 예약 완료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주요 흐름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32688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6696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병원 메인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6696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사이트 접속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05456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98648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증상 입력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98648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증상 텍스트 입력 (최대 1000자)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07408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직접 선택 예약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진료과·의사·날짜·시간 선택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38544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02552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예약 완료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2552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예약번호 확인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670048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" y="2715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</a:rPr>
              <a:t>대체 / 추가 흐름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2935224"/>
            <a:ext cx="2103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01368" y="315468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증상 입력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01368" y="343814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 추천 결과 확인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13632"/>
            <a:ext cx="914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463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AI 증상 분석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증상 텍스트 → Claude API → 진료과·의사 자동 추천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3913632"/>
            <a:ext cx="914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7355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직접 선택 예약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7355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진료과·의사·날짜·시간 직접 선택 (AI 폴백)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3913632"/>
            <a:ext cx="914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06247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예약번호 발급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6247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예약번호 발급 → 내원 시 창구 제시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병원 메인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home/index.mustache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0040" y="2350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환자분을 위한 편리한 진료 예약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587752"/>
            <a:ext cx="1837944" cy="859536"/>
          </a:xfrm>
          <a:prstGeom prst="rect">
            <a:avLst/>
          </a:prstGeom>
          <a:solidFill>
            <a:srgbClr val="F0FDF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2642616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🤖 AI 증상 추천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283464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증상 입력 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AI 진료과 추천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3209544"/>
            <a:ext cx="1709928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209544"/>
            <a:ext cx="1709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추천 예약하기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31136" y="2587752"/>
            <a:ext cx="1837944" cy="85953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295144" y="2642616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📋 직접 예약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95144" y="283464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진료과·의사를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직접 선택하여 예약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95144" y="3209544"/>
            <a:ext cx="1709928" cy="1737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95144" y="3209544"/>
            <a:ext cx="1709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직접 예약하기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3483864"/>
            <a:ext cx="3931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53872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📅 평일 09~18  토 09~13  🚫 일·공휴일 휴진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01752" y="3739896"/>
            <a:ext cx="3785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진료과 안내 (is_active=TRUE 동적 렌더링)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01752" y="3913632"/>
            <a:ext cx="8229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내과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197864" y="3913632"/>
            <a:ext cx="8229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97864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093976" y="3913632"/>
            <a:ext cx="8229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93976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피부과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990088" y="3913632"/>
            <a:ext cx="8229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0088" y="3913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정형외과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🔀  화면 진입 흐름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407408" y="1839773"/>
            <a:ext cx="19893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사이트 접속 (/)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407408" y="2054657"/>
            <a:ext cx="19893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 xml:space="preserve">  ▼ AI 추천 예약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00068" y="2054657"/>
            <a:ext cx="2557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/reservation/symptom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407408" y="2269541"/>
            <a:ext cx="19893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 xml:space="preserve">  ▼ 직접 예약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00068" y="2269541"/>
            <a:ext cx="2557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/reservation/direct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407408" y="2484425"/>
            <a:ext cx="19893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 xml:space="preserve">  ▼ 직원 로그인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00068" y="2484425"/>
            <a:ext cx="2557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/login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315968" y="274685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274685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315968" y="294071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832" y="294071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45152" y="294071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배지 렌더링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70448" y="294071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DEPARTMENT is_active=TRUE SSR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70832" y="3171139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👆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645152" y="3171139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클릭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870448" y="3171139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해당 과 소속 활성 의사 목록 토글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315968" y="340156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70832" y="340156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645152" y="340156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시간 안내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70448" y="340156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정적 텍스트 (평일·토·점심·휴진)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370832" y="363199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45152" y="363199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직원 로그인 버튼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70448" y="363199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고정 — /login 이동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315968" y="390997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89120" y="390997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425696" y="4122115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pageTitle: String  ·  departments: List&lt;Department&gt; (is_active=TRUE)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02-A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증상 입력 — 텍스트 입력 단계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/reservation/symptom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reservation/symptom.mustache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0040" y="231343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A42"/>
                </a:solidFill>
              </a:rPr>
              <a:t>🤖 AI 증상 추천 예약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증상을 자세히 입력할수록 더 정확한 진료과를 추천해드립니다.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" y="2816352"/>
            <a:ext cx="3749040" cy="768096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" y="288950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예) 3일 전부터 오른쪽 아랫배가 아프고 미열이 지속됩니다.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0040" y="3410712"/>
            <a:ext cx="3730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 / 1000자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74904" y="3657600"/>
            <a:ext cx="3639312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365760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 추천 받기  ⟳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92277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또는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74904" y="4096512"/>
            <a:ext cx="363931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" y="409651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직접 선택하기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328" y="4343400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뒤로가기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주요 기능 및 로직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증상 텍스트 입력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textarea 최대 1000자, 실시간 글자 수 카운터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⟳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로딩 인디케이터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버튼 클릭 시 spinner 표시, 중복 클릭 방지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직접 선택하기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/reservation/direct 이동 (추천값 없음)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⬅️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뒤로가기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/reservation (예약 방식 선택) 이동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/llm/symptom/analyze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425696" y="3231490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symptomText: String (1 ~ 1000자) }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315968" y="348020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0" y="348020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🛡️  폴백 처리 — LLM 실패 시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315968" y="3674059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07408" y="3674059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LLM_SERVICE_UNAVAILABLE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300216" y="3674059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오류 toast 후 3초 뒤 /reservation/direct 자동 이동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315968" y="3882542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07408" y="3882542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LLM_PARSE_ERROR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300216" y="3882542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동일 처리 — /reservation/direct 이동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315968" y="4091026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07408" y="4091026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타임아웃 5초 초과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300216" y="4091026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폴백 즉시 실행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434705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434705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425696" y="455919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pageTitle: 'AI 증상 추천 예약'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02-B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증상 입력 — AI 추천 결과 확인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/reservation/symptom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reservation/symptom.mustache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0040" y="229514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A42"/>
                </a:solidFill>
              </a:rPr>
              <a:t>🤖 AI 추천 결과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532888"/>
            <a:ext cx="3749040" cy="786384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587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추천 진료과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99032" y="2587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외과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825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추천 의사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399032" y="28254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김철수 전문의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3063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추천 시간대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399032" y="30632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오전 (09:00~12:00)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339242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AI 소견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0040" y="3575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복통 및 미열 증상으로 외과 진료가 적합합니다.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3794760"/>
            <a:ext cx="3749040" cy="4572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3831336"/>
            <a:ext cx="3639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⚠️ 면책 고지 (필수 표시)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6616" y="399592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본 결과는 AI 참고 안내이며, 의학적 진단이 아닙니다.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최종 판단은 반드시 의사에게 받으세요.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" y="4325112"/>
            <a:ext cx="1828800" cy="2103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3251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이 추천으로 예약하기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240280" y="4325112"/>
            <a:ext cx="182880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43251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다시 입력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결과 화면 기능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추천 결과 렌더링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SymptomResponse → 진료과·의사·시간대·소견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면책 고지 표시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disclaimer 항상 표시 (생략 절대 불가)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 추천으로 예약하기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추천값 쿼리파라미터로 /reservation/direct 이동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다시 입력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결과 영역 숨기고 입력 폼으로 복귀 (JS)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🔗  이동 시 쿼리파라미터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389120" y="3039466"/>
            <a:ext cx="459028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43984" y="307604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/reservation/direct?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 xml:space="preserve">  recommendationId={id}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 xml:space="preserve">  &amp;recommendedDept=외과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 xml:space="preserve">  &amp;recommendedDoctor=김철수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315968" y="358079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89120" y="358079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SymptomResponse DTO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389120" y="3792931"/>
            <a:ext cx="4590288" cy="11704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43984" y="3829507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recommendedDept: String    // 추천 진료과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recommendedDoctor: String   // 추천 의사명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recommendedTime: String    // 추천 시간대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advice: String             // AI 소견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disclaimer: String         // 면책 고지 (필수)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errorCode: String | null   // 실패 시 코드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직접 선택 예약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/reservation/direct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reservation/direct.mustache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20040" y="2276856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📋 예약하기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487168"/>
            <a:ext cx="3749040" cy="17373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487168"/>
            <a:ext cx="3675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💡 AI 추천: 외과 / 오전 시간대  (경유 시만 표시)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0040" y="2688336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──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" y="2843784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이름 *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60120" y="2843784"/>
            <a:ext cx="3072384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" y="2843784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홍길동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0040" y="3044952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연락처 *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60120" y="3044952"/>
            <a:ext cx="3072384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" y="3044952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010-XXXX-XXXX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0040" y="3246120"/>
            <a:ext cx="621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이메일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60120" y="3246120"/>
            <a:ext cx="3072384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" y="3246120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(선택)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0040" y="3447288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 정보 ──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0040" y="360273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진료과 *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60120" y="3602736"/>
            <a:ext cx="30723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6696" y="360273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 ▼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20040" y="37947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의사 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60120" y="3794760"/>
            <a:ext cx="30723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96" y="37947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김철수 ▼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0040" y="398678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날짜 *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60120" y="3986784"/>
            <a:ext cx="30723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6696" y="3986784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2026-03-15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0040" y="417880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시간 *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60120" y="4178808"/>
            <a:ext cx="30723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6696" y="4178808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 ▼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4904" y="4370832"/>
            <a:ext cx="363931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" y="437083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예약하기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주요 기능 및 로직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목록 SSR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is_active=TRUE 진료과 서버 렌더링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의사 목록 동적 조회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진료과 선택 → GET /getDoctors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🕐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시간 슬롯 동적 조회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의사+날짜 선택 → GET /getSlots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AI 추천값 자동 입력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쿼리파라미터 수신 → 폼 자동 채움 + 배너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✔️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폼 유효성 검증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6항목 미입력 시 제출 차단, 인라인 오류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GET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/reservation/getDoctors?deptId={id}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389120" y="3461918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346191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GET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791456" y="3461918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28032" y="346191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/reservation/getSlots?doctorId={id}&amp;date={date}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89120" y="3653942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89120" y="365394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91456" y="3653942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28032" y="365394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/reservation/create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315968" y="389351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0" y="389351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315968" y="408736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407408" y="408736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DUPLICATE_RESERVATION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300216" y="408736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해당 필드 강조 + 오류 메시지 표시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315968" y="429585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07408" y="429585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DOCTOR_NOT_AVAILABLE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300216" y="429585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슬롯 빈 목록 + 안내 메시지 표시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315968" y="455188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455188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4425696" y="4764024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pageTitle · departments · (AI) recommendedDept / Doctor / Time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환자 (비로그인)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화면 04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예약 완료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GET  /reservation/complete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reservation/complete.mustache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L1  H1 헤더 / F1 푸터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4688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938528"/>
            <a:ext cx="786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직원 로그인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4617720"/>
            <a:ext cx="39319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○○병원  |  TEL 02-0000-0000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938528" y="2221992"/>
            <a:ext cx="512064" cy="512064"/>
          </a:xfrm>
          <a:prstGeom prst="OVAL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38528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004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예약이 완료되었습니다.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008376"/>
            <a:ext cx="3749040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08376"/>
            <a:ext cx="374904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00837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예약번호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6424" y="3008376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RES-20260315-001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227832"/>
            <a:ext cx="374904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32278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환자명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6424" y="322783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홍길동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4904" y="34107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" y="341071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3593592"/>
            <a:ext cx="374904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" y="35935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담당 의사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" y="359359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김철수 전문의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4904" y="37764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 날짜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06424" y="377647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2026년 3월 15일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3959352"/>
            <a:ext cx="374904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39593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 시간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6424" y="395935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오전 09:00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040" y="4197096"/>
            <a:ext cx="3749040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419709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📌 예약번호를 메모해두시면 내원 접수 시 안내에 도움이 됩니다.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74904" y="4453128"/>
            <a:ext cx="363931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" y="445312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처음으로 돌아가기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정보 SSR 렌더링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Query Param reservationNumber → DB 조회 → SSR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예약번호 강조 표시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굵게·컬러 처리, 복사 유도 UX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📌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안내 메시지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예약번호 메모 유도 고정 문구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🏠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처음으로 돌아가기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 (비회원 메인) 이동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🚨  예외 처리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302117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07408" y="302117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reservationNumber 없음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300216" y="302117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 리다이렉트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322966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07408" y="322966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존재하지 않는 예약번호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300216" y="322966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 리다이렉트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315968" y="348569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348569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89120" y="3697834"/>
            <a:ext cx="4590288" cy="91440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43984" y="3734410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pageTitle: '예약 완료'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reservationNumber: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patientName: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deptName: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doctorName: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reservationDate: String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timeSlot: String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315968" y="46597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46597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🔗  URL 패턴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425696" y="4871923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</a:rPr>
              <a:t>/reservation/complete?reservationNumber=RES-20260315-001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📋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접수 직원 (STAFF)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ROLE_STAFF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전화·방문 환자 예약 등록 및 당일 예약 접수 처리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 ·  화면 06  ·  화면 07  ·  화면 08  ·  화면 09  ·  화면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hong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STAFF → /staff/dashboard · DOCTOR → /doctor/dashboard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ROLE별 대시보드로 즉시 리다이렉트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509467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509467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372160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395203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395203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395203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4182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4182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4182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푸터 없음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4182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미니멀 레이아웃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446044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46044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4672584"/>
            <a:ext cx="4590288" cy="20116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3984" y="470916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error: Boolean · logoutMsg: Boolean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STAFF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1579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88136" y="2386584"/>
            <a:ext cx="969264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0F2A4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88136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오늘 총 예약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88136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2"/>
                </a:solidFill>
              </a:rPr>
              <a:t>18건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21408" y="2386584"/>
            <a:ext cx="969264" cy="457200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21408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A580C"/>
                </a:solidFill>
              </a:rPr>
              <a:t>접수 대기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121408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12건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154680" y="2386584"/>
            <a:ext cx="969264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154680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접수 완료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154680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6건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24712" y="28895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빠른 메뉴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124712" y="3054096"/>
            <a:ext cx="142646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" y="30540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📋 접수 목록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660904" y="3054096"/>
            <a:ext cx="142646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60904" y="30540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📞 전화 예약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24712" y="3310128"/>
            <a:ext cx="142646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24712" y="33101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🚶 방문 접수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24712" y="35844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미접수 미리보기 (RESERVED 상위 5건)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51560" y="3739896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1560" y="37398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325880" y="37398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783080" y="373989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203704" y="37398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660904" y="373989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처리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1051560" y="3904488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51560" y="39044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325880" y="3904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783080" y="390448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외과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203704" y="3904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김철수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697480" y="3941064"/>
            <a:ext cx="658368" cy="128016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97480" y="39410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접수 처리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1051560" y="4105656"/>
            <a:ext cx="310896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51560" y="41056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325880" y="4105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이영희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783080" y="41056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내과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203704" y="4105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이영수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697480" y="4142232"/>
            <a:ext cx="658368" cy="128016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97480" y="414223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접수 처리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1051560" y="4306824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51560" y="43068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1325880" y="43068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783080" y="43068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피부과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203704" y="43068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최지은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697480" y="4343400"/>
            <a:ext cx="658368" cy="128016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697480" y="434340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접수 처리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1088136" y="4544568"/>
            <a:ext cx="3035808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88136" y="4544568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</a:rPr>
              <a:t>▶ 접수 목록 전체 보기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3종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총예약·접수대기(RESERVED)·접수완료(RECEIVED) 건수 SSR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접수 목록 이동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/staff/reception/list 이동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전화 예약 등록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/staff/reservation/new 이동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🚶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방문 접수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/staff/walkin/new 이동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미접수 미리보기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당일 RESERVED 시간 순 상위 5건 SSR 표시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접수 처리 버튼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/staff/reception/detail?reservationId={id}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🏗️  레이아웃 — L2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4315968" y="350032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70832" y="350032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4645152" y="350032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870448" y="350032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로고·메뉴명·로그인명(STAFF)·[로그아웃]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4370832" y="373075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S1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4645152" y="373075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STAFF 사이드 메뉴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5870448" y="373075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대시보드(강조)·접수목록·전화예약·방문접수·내 정보관리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4315968" y="396118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370832" y="396118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4645152" y="396118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5870448" y="396118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315968" y="423915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89120" y="423915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4389120" y="4451299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443984" y="4487875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todayTotal · reservedCount · receivedCount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recentReservations: List&lt;Reservation&gt;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접수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/staff/reception/list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staff/reception-list.mustache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접수 목록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28600" y="26151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📋 오늘 예약 접수 목록  📅 2026-03-15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88136" y="2377440"/>
            <a:ext cx="303580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" y="24323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399032" y="2432304"/>
            <a:ext cx="51206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17320" y="2432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965960" y="243230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진료과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295144" y="2432304"/>
            <a:ext cx="51206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13432" y="2432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862072" y="2432304"/>
            <a:ext cx="76809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0360" y="24323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환자명 검색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66744" y="2432304"/>
            <a:ext cx="34747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66744" y="24323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24712" y="276148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18건 중 12건 표시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051560" y="2916936"/>
            <a:ext cx="3108960" cy="17373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1560" y="2916936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307592" y="2916936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709928" y="2916936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112264" y="2916936"/>
            <a:ext cx="4023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514600" y="2916936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1051560" y="3090672"/>
            <a:ext cx="3108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" y="30906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307592" y="30906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709928" y="30906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외과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112264" y="30906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김철수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551176" y="3136392"/>
            <a:ext cx="731520" cy="1371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51176" y="31363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RESERVED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1051560" y="3319272"/>
            <a:ext cx="310896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1560" y="33192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307592" y="3319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이영희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709928" y="3319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내과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112264" y="3319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이영수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551176" y="3364992"/>
            <a:ext cx="731520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51176" y="33649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59669"/>
                </a:solidFill>
              </a:rPr>
              <a:t>RECEIVED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1051560" y="3547872"/>
            <a:ext cx="310896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51560" y="354787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307592" y="35478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709928" y="35478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피부과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112264" y="35478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최지은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551176" y="3593592"/>
            <a:ext cx="731520" cy="13716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51176" y="35935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D4ED8"/>
                </a:solidFill>
              </a:rPr>
              <a:t>COMPLETED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1051560" y="381304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1  [다음]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목록 SSR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 날짜 기준 전체 예약, 시간 순 정렬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 필터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RESERVED·RECEIVED·COMPLETED·CANCELLED·전체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 필터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진료과 드롭다운 → ?departmentId=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🔎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검색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부분 일치 검색 → ?keyword=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20건/페이지, ?page=0 (0-based)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접수 처리 버튼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 상태에만 표시 → /reception/detail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389120" y="3500323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443984" y="3536899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receptions: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 xml:space="preserve">  ↳ {time, patient, department, doctor, status}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queryParams: {status?, departmentId?, keyword?, page}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접수 처리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/staff/reception/detail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staff/reception-detail.mustache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접수 처리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28600" y="26151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9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9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3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3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8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8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3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3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9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9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88136" y="2194560"/>
            <a:ext cx="3035808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21284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A580C"/>
                </a:solidFill>
              </a:rPr>
              <a:t>── 예약 정보 (읽기 전용) ──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43000" y="2360000"/>
            <a:ext cx="2926080" cy="1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예약번호  RES-20260315-001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43000" y="2472000"/>
            <a:ext cx="2926080" cy="1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예약 시간  09:00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43000" y="2584000"/>
            <a:ext cx="2926080" cy="1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진료과  외과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43000" y="2696000"/>
            <a:ext cx="2926080" cy="1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담당 의사  김철수 전문의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143000" y="2808000"/>
            <a:ext cx="2926080" cy="1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A580C"/>
                </a:solidFill>
              </a:rPr>
              <a:t>예약 상태  🟡 RESERVED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143000" y="29334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확인 및 추가 입력 ──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88136" y="3079776"/>
            <a:ext cx="30358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3000" y="30797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691640" y="30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홍길동 (수정 불가)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88136" y="3299232"/>
            <a:ext cx="3035808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32992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691640" y="3299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010-1234-5678 (수정 불가)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88136" y="3518688"/>
            <a:ext cx="303580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35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주소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691640" y="3555264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28216" y="3555264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88136" y="3738144"/>
            <a:ext cx="3035808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43000" y="37381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특이사항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691640" y="3774720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28216" y="377472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예: 고혈압 약 복용 중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24712" y="4012464"/>
            <a:ext cx="1426464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" y="40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접수 완료 처리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587752" y="4012464"/>
            <a:ext cx="142646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87752" y="40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24712" y="42684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목록으로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정보 표시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예약번호·시간·진료과·의사·상태 (읽기 전용) SSR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 기본 정보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이름·연락처·이메일 (읽기 전용) SSR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주소·특이사항 입력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선택 입력, 미입력 시 기존값 유지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접수 완료 처리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 → RECEIVED + 환자 정보 업데이트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30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30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🚫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30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처리된 예약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30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 아닌 경우 처리 버튼 비활성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33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33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389120" y="35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5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791456" y="35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28032" y="35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/staff/reception/receive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4425696" y="37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reservationId, address?, note? }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315968" y="40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40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15968" y="420448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07408" y="420448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RESERVED 아닌 예약 접근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300216" y="420448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상태 표시, 처리 버튼 비활성화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441297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7408" y="441297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존재하지 않는 reservationId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300216" y="441297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/staff/reception/list 리다이렉트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315968" y="466900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89120" y="466900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389120" y="4881144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43984" y="4917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reservation: Reservation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patient: Patient · isProcessable: Boolean  // RESERVED 여부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09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전화 예약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/staff/reservation/new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staff/reservation-new.mustache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전화 예약 등록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30723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50008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500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 *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691640" y="2377440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28216" y="237744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88136" y="2551176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51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 *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691640" y="2578608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28216" y="257860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88136" y="2752344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523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691640" y="2779776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28216" y="277977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(선택)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24712" y="299008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 정보 ──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88136" y="314553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314553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 *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691640" y="3172968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28216" y="317296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 ▼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88136" y="3346704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43000" y="33467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의사 *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691640" y="3374136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28216" y="337413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김철수 ▼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88136" y="3547872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5478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날짜 *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691640" y="3575304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28216" y="3575304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2026-03-16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749040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7490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시간 *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691640" y="3776472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28216" y="377647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14:00 ▼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88136" y="3986784"/>
            <a:ext cx="3035808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3000" y="40233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A580C"/>
                </a:solidFill>
              </a:rPr>
              <a:t>ℹ️ 전화 예약은 RESERVED 상태로 등록됩니다.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A580C"/>
                </a:solidFill>
              </a:rPr>
              <a:t>방문 후 창구 접수(화면 08)가 필요합니다.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124712" y="4297680"/>
            <a:ext cx="14264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24712" y="429768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예약 등록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87752" y="4297680"/>
            <a:ext cx="1426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87752" y="429768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124712" y="45354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직원 대리 예약 생성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전화 접수 환자 대신 예약, 최초 상태 RESERVED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의사 목록 동적 조회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진료과 선택 → GET /reservation/getDoctors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⏰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슬롯 동적 조회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의사 + 날짜 선택 → GET /reservation/getSlots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폼 유효성 검증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항목 미입력 시 제출 차단, 인라인 오류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/reservation/getDoctors?deptId={id}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791456" y="3231490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28032" y="323149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/reservation/getSlots?doctorId={id}&amp;date={date}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389120" y="342351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89120" y="342351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791456" y="342351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828032" y="342351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/staff/reservation/create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315968" y="366308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89120" y="366308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315968" y="3856939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07408" y="3856939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DUPLICATE_RESERVATION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300216" y="3856939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오류 메시지 인라인 표시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315968" y="4065422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07408" y="4065422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등록 성공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6300216" y="4065422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→ /staff/reception/list 이동 + 완료 toast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315968" y="43214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389120" y="43214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389120" y="4533595"/>
            <a:ext cx="4590288" cy="21945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43984" y="4570171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10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방문 접수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/staff/walkin/new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staff/walkin-new.mustache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방문 접수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28600" y="35295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88136" y="2194560"/>
            <a:ext cx="3035808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249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580C"/>
                </a:solidFill>
              </a:rPr>
              <a:t>ℹ️ 방문 접수는 당일 즉시 RECEIVED 처리됩니다.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4712" y="2523744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입력 ──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88136" y="2679192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26791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 *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691640" y="2706624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8136" y="2880360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3000" y="28803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 *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691640" y="2907792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8136" y="3081528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3081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691640" y="3108960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" y="3319272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 정보 ──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88136" y="3474720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347472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 *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691640" y="3502152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28216" y="350215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외과 ▼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675888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6758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의사 *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691640" y="3703320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28216" y="370332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김철수 ▼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088136" y="387705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43000" y="387705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시간 *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691640" y="3904488"/>
            <a:ext cx="237744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28216" y="390448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09:30 ▼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124712" y="4133088"/>
            <a:ext cx="14264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24712" y="4133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방문 접수 완료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587752" y="4133088"/>
            <a:ext cx="1426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87752" y="4133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124712" y="4370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🚶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즉시 RECEIVED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방문 접수 = 예약+접수 동시 처리, 별도 접수 불필요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의사 목록 동적 조회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진료과 선택 → GET /reservation/getDoctors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⏰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슬롯 조회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의사 선택 → 오늘 날짜 고정, 빈 슬롯만 표시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폼 유효성 검증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항목 미입력 시 제출 차단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/reservation/getDoctors?deptId={id}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791456" y="3231490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28032" y="323149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/reservation/getSlots?doctorId={id}&amp;date={today}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389120" y="342351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89120" y="342351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791456" y="342351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828032" y="342351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/staff/walkin/create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315968" y="366308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0" y="366308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389120" y="3875227"/>
            <a:ext cx="4590288" cy="21945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43984" y="3911803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접수 직원 (STAFF)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CD34D"/>
                </a:solidFill>
              </a:rPr>
              <a:t>화면 40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내 정보관리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GET  /staff/mypage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staff/mypage.mustache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내 정보관리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홍담당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접수 목록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📞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전화 예약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🚶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방문 접수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28600" y="3986784"/>
            <a:ext cx="8229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내 정보관리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50008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5000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홍담당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88136" y="2542032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420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사원 번호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S-20230401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088136" y="273405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340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담당 업무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접수 처리 · 전화 예약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088136" y="292608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292608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819656" y="2953512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2953512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hong@hospital.kr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11810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11810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19656" y="3145536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56232" y="3145536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010-1234-5678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24712" y="33558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비밀번호 변경 ──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88136" y="351129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51129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비밀번호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3538728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9384" y="3538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••••••••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70332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7033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92808" y="3730752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9384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88136" y="389534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3000" y="389534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 확인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92808" y="3922776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9384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2471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정보 표시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이름·사원번호·담당업무 (읽기 전용)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✉️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수정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연락처 수정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비밀번호 변경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현재 비밀번호 확인 후 새 비밀번호 설정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/staff/mypage/update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email?, phone?, currentPw?, newPw? }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15968" y="390448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07408" y="390448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현재 비밀번호 불일치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300216" y="390448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'현재 비밀번호가 올바르지 않습니다.' 인라인 표시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315968" y="4112971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07408" y="4112971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이메일 형식 오류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6300216" y="4112971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폼 인라인 유효성 메시지 표시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4315968" y="436900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389120" y="436900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🏗️  S1 사이드바 메뉴 변경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389120" y="4581144"/>
            <a:ext cx="4590288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43984" y="46360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S1 업데이트 (v2.0)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A580C"/>
                </a:solidFill>
              </a:rPr>
              <a:t>대시보드 · 접수목록 · 전화예약 · 방문접수 · 내 정보관리(강조)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315968" y="519562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389120" y="519562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389120" y="5407762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443984" y="544433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staff: Staff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 xml:space="preserve">  ↳ {name, employeeNo, role, email, phone}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🩺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의사 (DOCTOR)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ROLE_DOCTOR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오늘 담당 환자 진료하고 진료 기록을 입력, 병원 규칙 챗봇 활용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 ·  화면 11  ·  화면 12  ·  화면 13  ·  화면 C1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🩺 의사 (DOCTOR)  —  화면 여정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오늘 담당 환자 진료하고 진료 기록을 입력, 병원 규칙 챗봇 활용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주요 흐름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32688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6696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로그인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6696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DOCTOR 계정 로그인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05456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98648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DOCTOR 대시보드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98648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오늘 진료 현황 파악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07408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진료 목록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RECEIVED 환자 목록 조회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38544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02552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진료 기록 입력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2552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진료 소견·처방 입력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670048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" y="2715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</a:rPr>
              <a:t>대체 / 추가 흐름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2935224"/>
            <a:ext cx="2103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C1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01368" y="315468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챗봇 (오버레이)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01368" y="343814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병원 규칙 질의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13632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463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진료 목록 조회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담당 환자만 표시, 특이사항·시간 순 정렬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3913632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7355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진료 기록 입력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7355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소견 2000자 입력 → COMPLETED 전환 (단일 트랜잭션)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3913632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06247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병원 규칙 챗봇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6247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진료 중 언제든 챗봇 오버레이로 규칙 조회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kimcs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DOCTOR → /doctor/dashboard · STAFF → /staff/dashboard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ROLE별 대시보드로 즉시 리다이렉트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509467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509467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372160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395203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395203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395203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4182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4182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4182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푸터 없음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4182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미니멀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4460443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460443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📌  DOCTOR 로그인 후 동선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4672584"/>
            <a:ext cx="4590288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43984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</a:rPr>
              <a:t>로그인 성공 → ROLE_DOCTOR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</a:rPr>
              <a:t>→ /doctor/dashboard (화면 11) 자동 이동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11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DOCTOR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/doctor/dashboard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doctor/dashboard.mustache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176272"/>
            <a:ext cx="822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진료목록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  /  외과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88136" y="2395728"/>
            <a:ext cx="96926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88136" y="243230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D4ED8"/>
                </a:solidFill>
              </a:rPr>
              <a:t>오늘 진료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88136" y="25786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8건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121408" y="2395728"/>
            <a:ext cx="969264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21408" y="243230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7706"/>
                </a:solidFill>
              </a:rPr>
              <a:t>진료 대기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121408" y="25786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5건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154680" y="2395728"/>
            <a:ext cx="969264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154680" y="243230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진료 완료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154680" y="25786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3건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24712" y="28986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오늘 진료 일정 미리보기 (RECEIVED 상위 3건)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51560" y="3054096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344168" y="3054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801368" y="305409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특이사항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051560" y="3218688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32186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344168" y="32186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801368" y="321868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고혈압 약 복용 중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51560" y="3438144"/>
            <a:ext cx="3108960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" y="343814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344168" y="34381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이수연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801368" y="343814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당뇨 이력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051560" y="3657600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1560" y="365760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344168" y="3657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801368" y="365760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—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088136" y="3931920"/>
            <a:ext cx="3035808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8136" y="3931920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▶ 진료 목록 전체 보기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3종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오늘진료·진료대기(RECEIVED)·진료완료(COMPLETED)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목록 전체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/doctor/treatment/list 이동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H2 우측 고정 → 챗봇 오버레이(C1) 열기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일정 미리보기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 상위 3건 + 특이사항 SSR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🏗️  레이아웃 — L2 (S2 업데이트)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15968" y="3039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3039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3039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3039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로고·메뉴명·로그인명·[💬]·[로그아웃]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370832" y="326989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S2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326989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DOCTOR 사이드 메뉴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326989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대시보드(강조)·진료목록·내 정보관리·챗봇열기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350032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70832" y="350032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350032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350032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315968" y="377830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77830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990442"/>
            <a:ext cx="4590288" cy="49377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43984" y="402701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doctorName · department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todayTotal · receivedCount · completedCount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recentTreatments: List&lt;Reservation&gt;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 xml:space="preserve">  ↳ {time, patientName, note}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오늘 진료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/doctor/treatment/list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doctor/treatment-list.mustache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오늘 진료 목록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761488"/>
            <a:ext cx="822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진료목록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2026-03-15  /  외과  /  김철수 전문의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88136" y="2395728"/>
            <a:ext cx="3035808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" y="247802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417320" y="2478024"/>
            <a:ext cx="548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35608" y="247802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39112" y="2478024"/>
            <a:ext cx="9144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75688" y="24780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환자명 검색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990088" y="2478024"/>
            <a:ext cx="402336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0088" y="247802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24712" y="276148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8건 중 8건 표시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51560" y="2926080"/>
            <a:ext cx="3108960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" y="29260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344168" y="29260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819656" y="2926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특이사항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642616" y="29260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처리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051560" y="3108960"/>
            <a:ext cx="3108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31089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344168" y="310896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819656" y="3108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고혈압 약 복용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679192" y="3145536"/>
            <a:ext cx="640080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79192" y="31455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40AF"/>
                </a:solidFill>
              </a:rPr>
              <a:t>진료기록 입력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1051560" y="3346704"/>
            <a:ext cx="3108960" cy="2377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34670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344168" y="334670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819656" y="33467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—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679192" y="3383280"/>
            <a:ext cx="640080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79192" y="33832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40AF"/>
                </a:solidFill>
              </a:rPr>
              <a:t>진료기록 입력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051560" y="3584448"/>
            <a:ext cx="3108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1560" y="35844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344168" y="358444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이수연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819656" y="3584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당뇨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642616" y="35844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</a:rPr>
              <a:t>✅ 완료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051560" y="385876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1  [다음]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당일 진료 목록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로그인 의사 담당 / 오늘 날짜 / RECEIVED-COMPLETED 시간 순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 필터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RECEIVED·COMPLETED·전체 → ?status=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🔎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검색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부분 일치 → ?keyword=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진료기록 입력 버튼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 상태에만 표시 → /doctor/treatment/detail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완료 표시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COMPLETED → '✅ 완료' 텍스트, 버튼 없음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 → ?page=0 (0-based)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고정 [💬] → C1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315968" y="351861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0" y="351861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389120" y="3730752"/>
            <a:ext cx="4590288" cy="45720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43984" y="376732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doctorName · department · today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treatments: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 xml:space="preserve">  ↳ {time, patient, note, status}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queryParams: {status?, keyword?, page}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13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진료 기록 입력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/doctor/treatment/detail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doctor/treatment-detail.mustache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진료 기록 입력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761488"/>
            <a:ext cx="822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진료목록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88136" y="2194560"/>
            <a:ext cx="3035808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21284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40AF"/>
                </a:solidFill>
              </a:rPr>
              <a:t>📋 예약 정보 (읽기 전용)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43000" y="235915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  /  외과  /  홍길동  /  특이사항: 고혈압 약 복용 중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4712" y="2560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진단명 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83080" y="2578608"/>
            <a:ext cx="22860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19656" y="257860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고혈압성 심질환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24712" y="27797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처방 *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83080" y="2798064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19656" y="28163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혈압강하제 (암로디핀 5mg) 1일 1회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재진 예약: 2주 후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24712" y="3163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비고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83080" y="3182112"/>
            <a:ext cx="2286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19656" y="320040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저염식 권고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124712" y="3474720"/>
            <a:ext cx="141732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78608" y="3474720"/>
            <a:ext cx="1417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78608" y="3474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정보 표시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시간·진료과·환자명·특이사항 (읽기 전용)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진단명 입력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필수, 텍스트 입력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💊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처방 입력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필수, textarea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비고 입력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선택, textarea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COMPLETED 상태로 변경 → 목록으로 이동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[💬] → C1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/doctor/treatment/save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425696" y="3692347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reservationId, diagnosis, prescription, note? }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315968" y="394106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394106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315968" y="4134917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07408" y="4134917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RECEIVED 아닌 예약 접근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300216" y="4134917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403 → /doctor/treatment/list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315968" y="4343400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07408" y="434340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누락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300216" y="434340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폼 인라인 오류 메시지 표시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315968" y="459943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459943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89120" y="4811573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43984" y="4848149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doctorName · reservation: Reservation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 xml:space="preserve">  ↳ {time, patientName, department, note}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treatmentRecord?: {diagnosis, prescription, note}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C1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LLM 챗봇 오버레이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JS 오버레이  POST /llm/rules/ask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</a:rPr>
              <a:t>common/chatbot-overlay.js (Vanilla JS)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ROLE_DOCTOR · ROLE_NURSE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2039112"/>
            <a:ext cx="2798064" cy="2734056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88720" y="2039112"/>
            <a:ext cx="2798064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03911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병원 도우미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61872" y="2350008"/>
            <a:ext cx="2249424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238658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</a:rPr>
              <a:t>[직원]  응급 처치 키트 위치가 어디인가요?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27632" y="2679192"/>
            <a:ext cx="2249424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4208" y="271576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3층 간호사 스테이션 좌측 캐비닛에 보관되어 있습니다.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261872" y="3063240"/>
            <a:ext cx="2249424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310896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</a:rPr>
              <a:t>[직원]  사용 후 재보충 절차는?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627632" y="3374136"/>
            <a:ext cx="224942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64208" y="341071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담당 간호사에게 보고 후 원무과에 신청합니다.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280160" y="373989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⏳ 응답 대기 중...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261872" y="3959352"/>
            <a:ext cx="2157984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395935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질문을 입력하세요...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56432" y="3959352"/>
            <a:ext cx="45720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39593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전송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열기·닫기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[💬] 클릭 시 오버레이 토글, [✕] 클릭 시 닫기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📤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질문 전송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입력 후 [전송] 또는 Enter → 비동기 POST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🗂️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대화 이력 표시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세션 질문·답변 시간 순, 직원/AI 말풍선 구분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세션 이력 유지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오버레이 닫았다 열어도 세션 내 이력 유지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로딩 인디케이터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응답 대기 중 입력창 비활성화 + 스피너 표시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/llm/rules/ask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389120" y="3461918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346191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91456" y="3461918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28032" y="346191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/llm/rules/history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315968" y="370149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0" y="370149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🔐  접근 권한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315968" y="3913632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391363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391363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접근 권한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391363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ROLE_DOCTOR · ROLE_NURSE (STAFF·ADMIN 미노출)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70832" y="4144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4144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이력 저장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4144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CHATBOT_HISTORY 테이블 세션 단위 저장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의사 (DOCTOR)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3C5FD"/>
                </a:solidFill>
              </a:rPr>
              <a:t>화면 20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내 정보관리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GET  /doctor/mypage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doctor/mypage.mustache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내 정보관리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김철수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10896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진료목록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8600" y="3346704"/>
            <a:ext cx="822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50008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5000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김철수 (Dr.)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88136" y="2542032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420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사원 번호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D-20190305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088136" y="273405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340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전문과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외과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088136" y="292608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292608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819656" y="2953512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2953512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kimcs@hospital.kr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11810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11810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19656" y="3145536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56232" y="3145536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010-2345-6789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24712" y="33558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비밀번호 변경 ──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88136" y="351129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51129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비밀번호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3538728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9384" y="3538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••••••••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70332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7033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92808" y="3730752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9384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88136" y="389534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3000" y="389534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 확인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92808" y="3922776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9384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2471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정보 표시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이름·사원번호·전문과 (읽기 전용)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✉️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수정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연락처 수정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비밀번호 변경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현재 비밀번호 확인 후 새 비밀번호 설정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/doctor/mypage/update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email?, phone?, currentPw?, newPw? }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15968" y="390448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07408" y="390448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현재 비밀번호 불일치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300216" y="390448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'현재 비밀번호가 올바르지 않습니다.' 인라인 표시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315968" y="41605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1605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389120" y="4372661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43984" y="440923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doctor: Staff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 xml:space="preserve">  ↳ {name, employeeNo, department, email, phone}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B27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💊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간호사 (NURSE)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ROLE_NURSE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전체 예약 현황 파악, 환자 정보 관리, 재고 부족 모니터링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 ·  화면 14  ·  화면 15  ·  화면 16  ·  화면 C1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💊 간호사 (NURSE)  —  화면 여정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전체 예약 현황 파악, 환자 정보 관리, 재고 부족 모니터링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B2777"/>
                </a:solidFill>
              </a:rPr>
              <a:t>주요 흐름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32688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6696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로그인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6696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NURSE 계정 로그인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05456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98648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NURSE 대시보드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98648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전체 현황·재고 부족 확인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07408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오늘 예약 현황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전체 환자 예약 목록 조회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2167128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0391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38544" y="1783080"/>
            <a:ext cx="1572768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783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02552" y="200253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환자 정보 수정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2552" y="228600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환자명 클릭 → 정보 수정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670048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74320" y="2715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4748B"/>
                </a:solidFill>
              </a:rPr>
              <a:t>대체 / 추가 흐름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2935224"/>
            <a:ext cx="2103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9352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C1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01368" y="315468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챗봇 (오버레이)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01368" y="3438144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병원 규칙 질의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13632"/>
            <a:ext cx="91440" cy="12344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463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4종 건수 모니터링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RESERVED·RECEIVED·COMPLETED·CANCELLED 실시간 집계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3913632"/>
            <a:ext cx="91440" cy="12344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7355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재고 부족 알림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7355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최소 수량 미달 물품 대시보드 상단 즉시 알림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3913632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3913632"/>
            <a:ext cx="91440" cy="12344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062472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환자 정보 수정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62472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당일 예약 연동 — 예약 확인 후 특이사항 업데이트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lee_nurse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NURSE → /nurse/dashboard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로그아웃 완료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?logout 파라미터 → 완료 문구 표시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315968" y="327903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0" y="327903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🏗️  레이아웃 — L3 로그인 전용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15968" y="3491179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70832" y="3491179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45152" y="3491179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전용 헤더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70448" y="3491179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병원 이름만 중앙 표시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370832" y="372160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—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645152" y="372160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사이드바 없음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70448" y="372160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S0 미적용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315968" y="3999586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399958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📌  NURSE 로그인 후 동선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89120" y="4211726"/>
            <a:ext cx="4590288" cy="347472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43984" y="424830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185D"/>
                </a:solidFill>
              </a:rPr>
              <a:t>로그인 성공 → ROLE_NURSE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E185D"/>
                </a:solidFill>
              </a:rPr>
              <a:t>→ /nurse/dashboard (화면 14) 자동 이동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NURSE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/nurse/dashboard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nurse/dashboard.mustache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176272"/>
            <a:ext cx="822960" cy="2926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예약현황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20370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 (월)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106424" y="2404872"/>
            <a:ext cx="70408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06424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오늘 전체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106424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18건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865376" y="2404872"/>
            <a:ext cx="704088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865376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7706"/>
                </a:solidFill>
              </a:rPr>
              <a:t>접수 대기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865376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8건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624328" y="2404872"/>
            <a:ext cx="704088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24328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진료 대기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624328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6건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2404872"/>
            <a:ext cx="704088" cy="457200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383280" y="2441448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B2777"/>
                </a:solidFill>
              </a:rPr>
              <a:t>완료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383280" y="2587752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4건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📋 오늘 예약 현황 전체 보기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24712" y="312724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진료 대기 중 (RECEIVED 상위 3건)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51560" y="3291840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1560" y="32918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344168" y="32918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746504" y="3291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진료과/의사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569464" y="32918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특이사항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051560" y="3456432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4564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09:00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344168" y="345643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홍길동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746504" y="3456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외과/김철수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569464" y="34564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고혈압 약 복용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051560" y="3657600"/>
            <a:ext cx="310896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1560" y="3657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09:30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344168" y="365760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이수연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746504" y="3657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외과/김철수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569464" y="365760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2A42"/>
                </a:solidFill>
              </a:rPr>
              <a:t>당뇨 이력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1088136" y="3913632"/>
            <a:ext cx="3035808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43000" y="395020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⚠️ 재고 부족 2건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143000" y="41148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일회용 주사기  현재 50개 / 최소 100개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혈당 측정 스트립  현재 20개 / 최소 50개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4종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오늘전체·접수대기·진료대기·완료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현황 전체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/nurse/schedule/list 이동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버튼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H2 우측 고정 → 챗봇 오버레이(C1) 열기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🏥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 대기 미리보기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RECEIVED 상위 3건 + 진료과·의사·특이사항 SSR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알림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항목, 없으면 숨김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🏗️  레이아웃 — L2 (S3 업데이트)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15968" y="326989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70832" y="326989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645152" y="326989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870448" y="326989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로고·메뉴명·로그인명(NURSE)·[💬]·[로그아웃]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4370832" y="350032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S3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645152" y="350032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NURSE 사이드 메뉴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870448" y="350032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대시보드(강조)·예약현황·내 정보관리·챗봇열기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315968" y="3730752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70832" y="373075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645152" y="373075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870448" y="373075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315968" y="400873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89120" y="400873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389120" y="4220870"/>
            <a:ext cx="4590288" cy="49377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43984" y="425744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today · nurseName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todayTotal · reservedCount · receivedCount · completedCount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recentReceived: List&lt;Reservation&gt;  // RECEIVED 상위 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lowStockItems: List&lt;Inventory&gt;  // quantity &lt; min_quantity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오늘 예약 현황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/nurse/schedule/list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nurse/schedule-list.mustache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오늘 예약 현황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761488"/>
            <a:ext cx="822960" cy="2926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예약현황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203704"/>
            <a:ext cx="2962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2026-03-15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106424" y="2404872"/>
            <a:ext cx="7086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6424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97706"/>
                </a:solidFill>
              </a:rPr>
              <a:t>RESERVED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1106424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5건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69948" y="2404872"/>
            <a:ext cx="70866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69948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59669"/>
                </a:solidFill>
              </a:rPr>
              <a:t>RECEIVED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1869948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3건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33472" y="2404872"/>
            <a:ext cx="7086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D4ED8"/>
                </a:solidFill>
              </a:rPr>
              <a:t>COMPLETED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2633472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4건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96996" y="2404872"/>
            <a:ext cx="70866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96996" y="2423160"/>
            <a:ext cx="7086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C2626"/>
                </a:solidFill>
              </a:rPr>
              <a:t>CANCELLED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3396996" y="2569464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1건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88136" y="2779776"/>
            <a:ext cx="3035808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24712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435608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53896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709928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진료과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020824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39112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295144" y="283464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의사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606040" y="2834640"/>
            <a:ext cx="21945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24328" y="28346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124712" y="2962656"/>
            <a:ext cx="10972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58568" y="2962656"/>
            <a:ext cx="402336" cy="1463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58568" y="296265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124712" y="3182112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13건 표시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051560" y="3346704"/>
            <a:ext cx="3108960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1560" y="334670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시간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344168" y="33467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1819656" y="334670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221992" y="334670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624328" y="334670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51560" y="3529584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51560" y="352958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09:00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344168" y="35295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홍길동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819656" y="35295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외과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221992" y="352958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김철수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660904" y="3566160"/>
            <a:ext cx="713232" cy="14630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60904" y="356616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</a:rPr>
              <a:t>🟢 RECEIVED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1051560" y="3749040"/>
            <a:ext cx="3108960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" y="374904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09:30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344168" y="374904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이영희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819656" y="37490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내과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221992" y="374904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이영수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660904" y="3785616"/>
            <a:ext cx="713232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660904" y="378561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</a:rPr>
              <a:t>🟡 RESERVED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051560" y="3968496"/>
            <a:ext cx="3108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51560" y="396849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10:00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344168" y="396849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박민준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1819656" y="396849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피부과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221992" y="396849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최지은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60904" y="4005072"/>
            <a:ext cx="713232" cy="14630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660904" y="400507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</a:rPr>
              <a:t>✅ COMPLETED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1051560" y="4224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1  [다음]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상태별 건수 요약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RESERVED·RECEIVED·COMPLETED·CANCELLED 4종 집계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상태·진료과·의사 필터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드롭다운 → ?status= ?departmentId= ?doctorId=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🔎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검색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부분 일치 → ?keyword=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🖱️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환자명 클릭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/nurse/patient/detail?patientId={id} 이동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389120" y="3269894"/>
            <a:ext cx="4590288" cy="42062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43984" y="330647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today · stats:{reserved,received,completed,cancelled}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schedules: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 xml:space="preserve">  ↳ {time, patient, department, doctor, status}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16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환자 정보 조회·수정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/nurse/patient/detail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nurse/patient-detail.mustache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환자 정보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8600" y="2761488"/>
            <a:ext cx="822960" cy="2926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예약현황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2037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환자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6829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6829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64792" y="2395728"/>
            <a:ext cx="230428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01368" y="2395728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홍길동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88136" y="2569464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6946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64792" y="2596896"/>
            <a:ext cx="230428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01368" y="259689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010-1234-9999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88136" y="2770632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7063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783080" y="2770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hong@example.com (수정 불가)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43000" y="29718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특이사항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764792" y="2971800"/>
            <a:ext cx="230428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01368" y="30083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당뇨 이력 있음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고혈압 약 복용 중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24712" y="337413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오늘 예약 정보 (읽기 전용) ──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88136" y="3538728"/>
            <a:ext cx="303580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3000" y="3538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시간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545336" y="3538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09:00  /  외과  /  김철수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088136" y="3739896"/>
            <a:ext cx="303580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43000" y="37398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상태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545336" y="3776472"/>
            <a:ext cx="694944" cy="12801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45336" y="377647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</a:rPr>
              <a:t>🟢 RECEIVED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1124712" y="3977640"/>
            <a:ext cx="1426464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24712" y="39776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660904" y="3977640"/>
            <a:ext cx="1426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60904" y="397764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이름·연락처 수정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입력 필드 수정 가능, 저장 시 DB 반영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특이사항 수정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textarea 수정 가능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표시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읽기 전용 (수정 불가)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📅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오늘 예약 정보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시간·진료과·의사·상태 (읽기전용)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후 /nurse/schedule/list 이동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/nurse/patient/update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patientId, name, phone, note? }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89120" y="3922776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43984" y="39593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patient: Patient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todayReservation: Reservation  // nullable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 xml:space="preserve">  ↳ {time, department, doctor, status}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C1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LLM 챗봇 오버레이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JS 오버레이  POST /llm/rules/ask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E185D"/>
                </a:solidFill>
              </a:rPr>
              <a:t>common/chatbot-overlay.js (Vanilla JS)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ROLE_NURSE · ROLE_DOCTOR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2039112"/>
            <a:ext cx="2798064" cy="2734056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88720" y="2039112"/>
            <a:ext cx="2798064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03911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병원 도우미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20848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61872" y="2350008"/>
            <a:ext cx="2249424" cy="310896"/>
          </a:xfrm>
          <a:prstGeom prst="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23865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185D"/>
                </a:solidFill>
              </a:rPr>
              <a:t>[직원]  혈당 측정 스트립 재보충 절차가 어떻게 되나요?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27632" y="2697480"/>
            <a:ext cx="2249424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4208" y="27340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[AI]  원무과 물품 신청서를 작성 후 수간호사 결재를 받아 진행하면 됩니다.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80160" y="311810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⏳ 응답 대기 중...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261872" y="3337560"/>
            <a:ext cx="2157984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8448" y="333756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질문을 입력하세요...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56432" y="3337560"/>
            <a:ext cx="457200" cy="2011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3337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전송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열기·닫기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[💬] 클릭 시 오버레이 토글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📤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질문 전송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입력 후 [전송] → 비동기 POST /llm/rules/ask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세션 이력 유지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오버레이 닫았다 열어도 유지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⏳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로딩 인디케이터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대기 중 입력창 비활성화 + 스피너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/llm/rules/ask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2314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91456" y="3231490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323149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/llm/rules/history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315968" y="347106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347106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🔐  접근 권한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315968" y="368320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70832" y="368320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645152" y="368320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접근 권한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70448" y="368320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ROLE_DOCTOR · ROLE_NURSE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70832" y="391363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645152" y="391363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이력 저장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870448" y="391363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CHATBOT_HISTORY 세션 단위 저장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간호사 (NURSE)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72B6"/>
                </a:solidFill>
              </a:rPr>
              <a:t>화면 21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내 정보관리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2B6"/>
                </a:solidFill>
              </a:rPr>
              <a:t>GET  /nurse/mypage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72B6"/>
                </a:solidFill>
              </a:rPr>
              <a:t>nurse/mypage.mustache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내 정보관리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이간호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29000" y="1938528"/>
            <a:ext cx="310896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93852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" y="219456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83464" y="277977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27797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예약현황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8600" y="3346704"/>
            <a:ext cx="822960" cy="2926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33649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내 정보관리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3464" y="39502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502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챗봇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 ──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88136" y="2350008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35000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이간호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88136" y="2542032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25420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사원 번호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N-20210812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088136" y="273405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27340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부서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3병동 간호팀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088136" y="292608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292608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819656" y="2953512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2953512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leegan@hospital.kr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88136" y="311810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11810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19656" y="3145536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56232" y="3145536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010-9876-5432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24712" y="33558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비밀번호 변경 ──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88136" y="351129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43000" y="351129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비밀번호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3538728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29384" y="3538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••••••••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70332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37033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92808" y="3730752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29384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88136" y="389534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3000" y="389534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 확인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92808" y="3922776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9384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12471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정보 표시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이름·사원번호·부서 (읽기 전용)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✉️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수정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연락처 수정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비밀번호 변경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현재 비밀번호 확인 후 새 비밀번호 설정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/nurse/mypage/update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email?, phone?, currentPw?, newPw? }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🚨  오류 처리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15968" y="390448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07408" y="390448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현재 비밀번호 불일치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300216" y="390448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'현재 비밀번호가 올바르지 않습니다.' 인라인 표시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315968" y="41605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1605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85D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389120" y="4372661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43984" y="440923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>pageTitle · nurse: Staff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9A8D4"/>
                </a:solidFill>
              </a:rPr>
              <a:t xml:space="preserve">  ↳ {name, employeeNo, department, email, phone}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📦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물품 담당자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ROLE_ADMIN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병원 물품 재고 등록·수정·삭제, 재고 부족 모니터링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· 화면 17 · 화면 27 · 화면 28 · 화면 29 · 카테고리(C-1~C-3)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📦 물품 담당자  —  화면 여정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병원 물품 재고 등록·수정·삭제, 재고 부족 모니터링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주요 흐름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로그인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ADMIN(물품담당) 계정 로그인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02536" y="2377440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58568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58568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17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22576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ADMIN 대시보드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22576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재고 부족 건수 확인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30168" y="2377440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86200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86200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27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50208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물품 목록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50208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전체 물품 재고 조회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57800" y="2377440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13832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13832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28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77840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물품 등록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신규 물품 등록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85432" y="2377440"/>
            <a:ext cx="2743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41464" y="1993392"/>
            <a:ext cx="1371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41464" y="1993392"/>
            <a:ext cx="13716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41464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화면 29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05472" y="22128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물품 상세·수정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05472" y="24963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재고 수량·정보 수정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29443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2944368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3054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84632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물품 목록 조회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카테고리·재고 부족 여부 필터링, 20건 페이징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108960" y="29443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2944368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3054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➕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273552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물품 등록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73552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품명·카테고리·현재고·최소 수량 신규 등록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2944368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0" y="2944368"/>
            <a:ext cx="914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3054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062472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재고 수정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62472" y="37124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현재고·최소 수량 수정 — 간호사 대시보드에 즉시 반영</a:t>
            </a:r>
            <a:endParaRPr lang="en-US" sz="950" dirty="0"/>
          </a:p>
        </p:txBody>
      </p:sp>
      <p:sp>
        <p:nvSpPr>
          <p:cNvPr id="56" name="R56"/>
          <p:cNvSpPr/>
          <p:nvPr/>
        </p:nvSpPr>
        <p:spPr>
          <a:xfrm>
            <a:off x="320040" y="4297680"/>
            <a:ext cx="256032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R57"/>
          <p:cNvSpPr/>
          <p:nvPr/>
        </p:nvSpPr>
        <p:spPr>
          <a:xfrm>
            <a:off x="320040" y="4297680"/>
            <a:ext cx="9144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T58"/>
          <p:cNvSpPr/>
          <p:nvPr/>
        </p:nvSpPr>
        <p:spPr>
          <a:xfrm>
            <a:off x="484632" y="44074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59" name="T59"/>
          <p:cNvSpPr/>
          <p:nvPr/>
        </p:nvSpPr>
        <p:spPr>
          <a:xfrm>
            <a:off x="484632" y="4800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</a:rPr>
              <a:t>카테고리 관리</a:t>
            </a:r>
            <a:endParaRPr lang="en-US" sz="700" dirty="0"/>
          </a:p>
        </p:txBody>
      </p:sp>
      <p:sp>
        <p:nvSpPr>
          <p:cNvPr id="60" name="T60"/>
          <p:cNvSpPr/>
          <p:nvPr/>
        </p:nvSpPr>
        <p:spPr>
          <a:xfrm>
            <a:off x="484632" y="5056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카테고리 목록·등록·수정/삭제, 물품 분류 체계 관리</a:t>
            </a:r>
            <a:endParaRPr lang="en-US" sz="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27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item_mgr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⚠️ 아이디 또는 비밀번호가 올바르지 않습니다. ← ?error 시만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기능 정의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로그인 처리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/login (Spring Security FormLogin 자동 처리)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ROLE별 리다이렉트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ADMIN(물품) → /admin/dashboard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실패 메시지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?error 파라미터 → 오류 문구 표시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이미 로그인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역할별 대시보드로 즉시 리다이렉트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389120" y="303946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91456" y="3039466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828032" y="303946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315968" y="327903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389120" y="327903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📌  ADMIN(물품담당) 로그인 후 동선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89120" y="3491179"/>
            <a:ext cx="4590288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443984" y="3527755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로그인 성공 → ROLE_ADMIN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→ /admin/dashboard (화면 17) 자동 이동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사이드 메뉴: 대시보드 · 카테고리 · 물품관리 · 내 정보관리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17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담당자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/admin/dashboard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admin/dashboard.mustache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19456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2A42"/>
                </a:solidFill>
              </a:rPr>
              <a:t>📅 2026년 3월 15일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88136" y="2386584"/>
            <a:ext cx="969264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88136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</a:rPr>
              <a:t>전체 물품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088136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24종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121408" y="2386584"/>
            <a:ext cx="969264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121408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재고 부족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121408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5건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154680" y="2386584"/>
            <a:ext cx="969264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54680" y="2423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154680" y="25694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3종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24712" y="28895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재고 부족 물품 알림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51560" y="3054096"/>
            <a:ext cx="3108960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51560" y="30540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물품명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965960" y="30540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514600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현재고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807208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최소고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099816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부족량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051560" y="3218688"/>
            <a:ext cx="3108960" cy="237744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051560" y="3218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🔴 일회용 주사기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965960" y="32186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의료용품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514600" y="32186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50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807208" y="32186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100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099816" y="321868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-50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51560" y="3456432"/>
            <a:ext cx="310896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051560" y="3456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🔴 혈당 스트립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965960" y="34564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소모품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514600" y="34564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20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807208" y="34564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50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099816" y="345643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-30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106424" y="3749040"/>
            <a:ext cx="1453896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106424" y="37490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+ 물품 등록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651760" y="3749040"/>
            <a:ext cx="145389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651760" y="37490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 xml:space="preserve"> 물품 목록 보기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카드 3종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전체물품 수·재고부족 건수·카테고리 수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목록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물품 상위 표시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🏷️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관리 이동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/admin/item/list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 등록 버튼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/admin/item/new 이동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827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389120" y="2827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🏗️  레이아웃 — L2 (S4 사이드바)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15968" y="303946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4370832" y="303946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H2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303946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헤더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303946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로고·메뉴명·로그인명(ADMIN)·[로그아웃]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370832" y="326989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S4-I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45152" y="326989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ADMIN 물품 담당자 메뉴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870448" y="326989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대시보드(강조)·카테고리·물품관리·내 정보관리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315968" y="350032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370832" y="350032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F2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350032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내부 직원 푸터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350032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저작권 표시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315968" y="377830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389120" y="377830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990442"/>
            <a:ext cx="4590288" cy="49377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4443984" y="402701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managerName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totalItems · lowStockCount · categoryCount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lowStockItems: List&lt;Inventory&gt;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>  ↳ {name, category, quantity, minQuantity}</a:t>
            </a:r>
            <a:endParaRPr lang="en-US" sz="750" dirty="0"/>
          </a:p>
        </p:txBody>
      </p:sp>
      <p:sp>
        <p:nvSpPr>
          <p:cNvPr id="101" name="SidebarHL101"/>
          <p:cNvSpPr/>
          <p:nvPr/>
        </p:nvSpPr>
        <p:spPr>
          <a:xfrm>
            <a:off x="228600" y="221284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02" name="SidebarIcon102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03" name="SidebarText103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104" name="SidebarIcon104"/>
          <p:cNvSpPr/>
          <p:nvPr/>
        </p:nvSpPr>
        <p:spPr>
          <a:xfrm>
            <a:off x="283464" y="26883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05" name="SidebarText105"/>
          <p:cNvSpPr/>
          <p:nvPr/>
        </p:nvSpPr>
        <p:spPr>
          <a:xfrm>
            <a:off x="502920" y="26883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106" name="SidebarIcon106"/>
          <p:cNvSpPr/>
          <p:nvPr/>
        </p:nvSpPr>
        <p:spPr>
          <a:xfrm>
            <a:off x="283464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07" name="SidebarText107"/>
          <p:cNvSpPr/>
          <p:nvPr/>
        </p:nvSpPr>
        <p:spPr>
          <a:xfrm>
            <a:off x="502920" y="31455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108" name="SidebarIcon108"/>
          <p:cNvSpPr/>
          <p:nvPr/>
        </p:nvSpPr>
        <p:spPr>
          <a:xfrm>
            <a:off x="283464" y="36027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109" name="SidebarText109"/>
          <p:cNvSpPr/>
          <p:nvPr/>
        </p:nvSpPr>
        <p:spPr>
          <a:xfrm>
            <a:off x="502920" y="36027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27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/admin/item/list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admin/item-list.mustache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물품 재고 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355848" y="1938528"/>
            <a:ext cx="74980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1938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+ 물품 등록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88136" y="2194560"/>
            <a:ext cx="303580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2194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⚠️ 재고 부족 5건 있음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88136" y="2414016"/>
            <a:ext cx="3035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2450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618488" y="2450592"/>
            <a:ext cx="548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36776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240280" y="2450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재고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32888" y="2450592"/>
            <a:ext cx="548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51176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전체 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88136" y="2688336"/>
            <a:ext cx="3035808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3000" y="2715768"/>
            <a:ext cx="13533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79576" y="27157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물품명 검색...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532888" y="2715768"/>
            <a:ext cx="4572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32888" y="2715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026664" y="271576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26664" y="2715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초기화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24712" y="294436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24건 중 24건 표시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51560" y="3108960"/>
            <a:ext cx="3108960" cy="17373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310896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물품명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965960" y="3108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514600" y="3108960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현재고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807208" y="3108960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최소고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099816" y="310896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051560" y="3282696"/>
            <a:ext cx="310896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3282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🔴 일회용 주사기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65960" y="32826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의료용품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514600" y="32826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50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07208" y="32826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100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108960" y="3300984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0" y="3300984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108960" y="3410712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0" y="341071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1051560" y="3520440"/>
            <a:ext cx="3108960" cy="2377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51560" y="3520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혈압계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965960" y="35204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의료기기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14600" y="3520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5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807208" y="3520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2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108960" y="3538728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0" y="3538728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3108960" y="3648456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08960" y="36484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1051560" y="3758184"/>
            <a:ext cx="3108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51560" y="3758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알코올 솜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965960" y="3758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소모품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14600" y="37581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500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807208" y="37581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200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108960" y="3776472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08960" y="3776472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3108960" y="3886200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108960" y="38862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삭제</a:t>
            </a:r>
            <a:endParaRPr lang="en-US" sz="550" dirty="0"/>
          </a:p>
        </p:txBody>
      </p:sp>
      <p:sp>
        <p:nvSpPr>
          <p:cNvPr id="87" name="Text 85"/>
          <p:cNvSpPr/>
          <p:nvPr/>
        </p:nvSpPr>
        <p:spPr>
          <a:xfrm>
            <a:off x="1051560" y="403250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2  [다음]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배너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건수 배너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 등록 버튼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[+ 물품 등록] → /admin/item/new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🏷️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필터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카테고리별 필터링 → ?category=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상태 필터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부족·정상·전체 → ?stockStatus=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물품명 검색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?keyword=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행 강조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→ 빨간색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수정/삭제 버튼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/admin/item/detail 이동 / POST /admin/item/delete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4315968" y="351861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389120" y="351861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389120" y="3730752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389120" y="37307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791456" y="3730752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828032" y="3730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/item/delete  { itemId }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4315968" y="3970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389120" y="3970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4389120" y="4182466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443984" y="421904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lowStockCount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items: Page&lt;Inventory&gt;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>  ↳ {id, name, category, quantity, minQuantity}</a:t>
            </a:r>
            <a:endParaRPr lang="en-US" sz="750" dirty="0"/>
          </a:p>
        </p:txBody>
      </p:sp>
      <p:sp>
        <p:nvSpPr>
          <p:cNvPr id="125" name="SidebarIcon125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26" name="SidebarText126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127" name="SidebarIcon127"/>
          <p:cNvSpPr/>
          <p:nvPr/>
        </p:nvSpPr>
        <p:spPr>
          <a:xfrm>
            <a:off x="283464" y="26883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28" name="SidebarText128"/>
          <p:cNvSpPr/>
          <p:nvPr/>
        </p:nvSpPr>
        <p:spPr>
          <a:xfrm>
            <a:off x="502920" y="26883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129" name="SidebarHL129"/>
          <p:cNvSpPr/>
          <p:nvPr/>
        </p:nvSpPr>
        <p:spPr>
          <a:xfrm>
            <a:off x="228600" y="312724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0" name="SidebarIcon130"/>
          <p:cNvSpPr/>
          <p:nvPr/>
        </p:nvSpPr>
        <p:spPr>
          <a:xfrm>
            <a:off x="283464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31" name="SidebarText131"/>
          <p:cNvSpPr/>
          <p:nvPr/>
        </p:nvSpPr>
        <p:spPr>
          <a:xfrm>
            <a:off x="502920" y="31455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132" name="SidebarIcon132"/>
          <p:cNvSpPr/>
          <p:nvPr/>
        </p:nvSpPr>
        <p:spPr>
          <a:xfrm>
            <a:off x="283464" y="36027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133" name="SidebarText133"/>
          <p:cNvSpPr/>
          <p:nvPr/>
        </p:nvSpPr>
        <p:spPr>
          <a:xfrm>
            <a:off x="502920" y="36027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28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/admin/item/new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admin/item-new.mustache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물품 등록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212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물품명 *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01368" y="2231136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837944" y="2231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4712" y="2432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 *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01368" y="2450592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837944" y="2450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의료용품 ▼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4712" y="26517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수량 *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01368" y="267004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837944" y="2670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/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276856" y="2670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96312" y="2670048"/>
            <a:ext cx="1426464" cy="16459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14600" y="26700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/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24712" y="2871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최소 수량 *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01368" y="2889504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837944" y="28895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276856" y="2889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4712" y="31089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/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88136" y="3264408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143000" y="3264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801368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88136" y="3447288"/>
            <a:ext cx="3035808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143000" y="3447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801368" y="3447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등록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취소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24712" y="39410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물품 목록으로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물품명·카테고리 입력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변경 후 등록 가능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현재 수량 입력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0 이상 정수 필수 입력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📏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최소 수량 입력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0 이상 정수, 부족 기준값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폼 유효성 검증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항목 미입력·음수 시 차단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등록 성공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/admin/item/create → 목록 이동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🗑️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취소 버튼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/admin/item/list 이동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/item/create  { name, category, quantity, minQuantity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69234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4828032" y="369234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/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39319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389120" y="39319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4144061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4443984" y="4180637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categories: List&lt;String&gt;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>  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>    </a:t>
            </a:r>
            <a:endParaRPr lang="en-US" sz="750" dirty="0"/>
          </a:p>
        </p:txBody>
      </p:sp>
      <p:sp>
        <p:nvSpPr>
          <p:cNvPr id="102" name="SidebarIcon102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03" name="SidebarText103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104" name="SidebarIcon104"/>
          <p:cNvSpPr/>
          <p:nvPr/>
        </p:nvSpPr>
        <p:spPr>
          <a:xfrm>
            <a:off x="283464" y="26883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05" name="SidebarText105"/>
          <p:cNvSpPr/>
          <p:nvPr/>
        </p:nvSpPr>
        <p:spPr>
          <a:xfrm>
            <a:off x="502920" y="26883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106" name="SidebarHL106"/>
          <p:cNvSpPr/>
          <p:nvPr/>
        </p:nvSpPr>
        <p:spPr>
          <a:xfrm>
            <a:off x="228600" y="312724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7" name="SidebarIcon107"/>
          <p:cNvSpPr/>
          <p:nvPr/>
        </p:nvSpPr>
        <p:spPr>
          <a:xfrm>
            <a:off x="283464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08" name="SidebarText108"/>
          <p:cNvSpPr/>
          <p:nvPr/>
        </p:nvSpPr>
        <p:spPr>
          <a:xfrm>
            <a:off x="502920" y="31455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109" name="SidebarIcon109"/>
          <p:cNvSpPr/>
          <p:nvPr/>
        </p:nvSpPr>
        <p:spPr>
          <a:xfrm>
            <a:off x="283464" y="36027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110" name="SidebarText110"/>
          <p:cNvSpPr/>
          <p:nvPr/>
        </p:nvSpPr>
        <p:spPr>
          <a:xfrm>
            <a:off x="502920" y="36027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29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상세·수정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/admin/item/detail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admin/item-detail.mustache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물품 상세·수정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212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물품명 *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01368" y="2231136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37944" y="2231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일회용 주사기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4712" y="2432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 *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01368" y="2450592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37944" y="2450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의료용품 ▼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4712" y="26517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수량 *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01368" y="267004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37944" y="2670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50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276856" y="2670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96312" y="2670048"/>
            <a:ext cx="1426464" cy="16459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26700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재고 부족 (최소 100개)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24712" y="2871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최소 수량 *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01368" y="2889504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37944" y="28895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100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276856" y="2889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4712" y="31089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등록 정보 (읽기 전용) ──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88136" y="3264408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3264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등록일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801368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2025-11-01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88136" y="3447288"/>
            <a:ext cx="3035808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3000" y="3447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최종 수정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801368" y="3447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2026-02-15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삭제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24712" y="39410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물품 목록으로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물품명·카테고리 수정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변경 후 저장 가능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현재 수량 수정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직접 입력 변경 (MVP: 입출고 로그 없음)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📏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최소 수량 수정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부족 알림 기준값 변경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재고 부족 표시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quantity &lt; min_quantity → 빨간색 경고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🗑️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삭제 버튼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POST /admin/item/delete → 목록 이동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/item/update  { itemId, name, category, quantity, minQuantity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69234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28032" y="369234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/item/delete  { itemId }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39319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9319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4144061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43984" y="4180637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item: Inventory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>  ↳ {id, name, category, quantity, minQuantity,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>    createdAt, updatedAt, isLowStock}</a:t>
            </a:r>
            <a:endParaRPr lang="en-US" sz="750" dirty="0"/>
          </a:p>
        </p:txBody>
      </p:sp>
      <p:sp>
        <p:nvSpPr>
          <p:cNvPr id="102" name="SidebarIcon102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03" name="SidebarText103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104" name="SidebarIcon104"/>
          <p:cNvSpPr/>
          <p:nvPr/>
        </p:nvSpPr>
        <p:spPr>
          <a:xfrm>
            <a:off x="283464" y="26883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05" name="SidebarText105"/>
          <p:cNvSpPr/>
          <p:nvPr/>
        </p:nvSpPr>
        <p:spPr>
          <a:xfrm>
            <a:off x="502920" y="26883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106" name="SidebarHL106"/>
          <p:cNvSpPr/>
          <p:nvPr/>
        </p:nvSpPr>
        <p:spPr>
          <a:xfrm>
            <a:off x="228600" y="312724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7" name="SidebarIcon107"/>
          <p:cNvSpPr/>
          <p:nvPr/>
        </p:nvSpPr>
        <p:spPr>
          <a:xfrm>
            <a:off x="283464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08" name="SidebarText108"/>
          <p:cNvSpPr/>
          <p:nvPr/>
        </p:nvSpPr>
        <p:spPr>
          <a:xfrm>
            <a:off x="502920" y="31455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109" name="SidebarIcon109"/>
          <p:cNvSpPr/>
          <p:nvPr/>
        </p:nvSpPr>
        <p:spPr>
          <a:xfrm>
            <a:off x="283464" y="36027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110" name="SidebarText110"/>
          <p:cNvSpPr/>
          <p:nvPr/>
        </p:nvSpPr>
        <p:spPr>
          <a:xfrm>
            <a:off x="502920" y="36027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C-1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카테고리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/admin/category/list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admin/category-list.mustache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카테고리 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355848" y="1938528"/>
            <a:ext cx="74980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355848" y="193852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+ 카테고리 등록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88136" y="2194560"/>
            <a:ext cx="303580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143000" y="2194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/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88136" y="2414016"/>
            <a:ext cx="303580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143000" y="24505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상태 필터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618488" y="2450592"/>
            <a:ext cx="548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636776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/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240280" y="2450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/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32888" y="2450592"/>
            <a:ext cx="548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551176" y="2450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/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88136" y="2688336"/>
            <a:ext cx="3035808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143000" y="2715768"/>
            <a:ext cx="13533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179576" y="27157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카테고리명 검색...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532888" y="2715768"/>
            <a:ext cx="4572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532888" y="2715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026664" y="271576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026664" y="2715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초기화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24712" y="294436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총 3건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51560" y="3108960"/>
            <a:ext cx="3108960" cy="17373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051560" y="310896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카테고리명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965960" y="31089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물품 수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514600" y="3108960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807208" y="3108960"/>
            <a:ext cx="292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/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099816" y="310896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051560" y="3282696"/>
            <a:ext cx="310896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1051560" y="3282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의료 소모품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65960" y="32826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12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514600" y="32826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활성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07208" y="32826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/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108960" y="3300984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108960" y="3300984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108960" y="3410712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108960" y="341071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비활성화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1051560" y="3520440"/>
            <a:ext cx="3108960" cy="2377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051560" y="35204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의료 장비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965960" y="35204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5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14600" y="3520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활성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807208" y="35204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/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108960" y="3538728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108960" y="3538728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3108960" y="3648456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3108960" y="36484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비활성화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1051560" y="3758184"/>
            <a:ext cx="3108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051560" y="3758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일반 소모품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965960" y="3758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7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14600" y="37581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>활성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807208" y="37581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2A42"/>
                </a:solidFill>
              </a:rPr>
              <a:t/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108960" y="3776472"/>
            <a:ext cx="274320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108960" y="3776472"/>
            <a:ext cx="274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수정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3108960" y="3886200"/>
            <a:ext cx="2743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3108960" y="38862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DC2626"/>
                </a:solidFill>
              </a:rPr>
              <a:t>비활성화</a:t>
            </a:r>
            <a:endParaRPr lang="en-US" sz="550" dirty="0"/>
          </a:p>
        </p:txBody>
      </p:sp>
      <p:sp>
        <p:nvSpPr>
          <p:cNvPr id="87" name="Text 85"/>
          <p:cNvSpPr/>
          <p:nvPr/>
        </p:nvSpPr>
        <p:spPr>
          <a:xfrm>
            <a:off x="1051560" y="403250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[이전]  1 / 2  [다음]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🔽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상태 필터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전체/활성/비활성 드롭다운 필터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등록 버튼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헤더 우측 [+ 카테고리 등록] → /admin/category/new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👆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행 클릭 상세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?isActive=true/false 파라미터 필터링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행 클릭 → 상세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/admin/category/detail?categoryId={id} 이동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카테고리명 검색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POST /admin/category/deactivate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페이지네이션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20건/페이지, ?page=0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4315968" y="3240634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4370832" y="3240634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4645152" y="3240634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/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870448" y="3240634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/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4315968" y="351861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4389120" y="351861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389120" y="3730752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4389120" y="37307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791456" y="3730752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4828032" y="3730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/admin/category/deactivate  { categoryId }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4315968" y="397032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4389120" y="397032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4389120" y="4182466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4443984" y="421904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categories: List&lt;ItemCategoryDto&gt;
  ↳ {id, name, itemCount, isActive}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/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/>
            </a:r>
            <a:endParaRPr lang="en-US" sz="750" dirty="0"/>
          </a:p>
        </p:txBody>
      </p:sp>
      <p:sp>
        <p:nvSpPr>
          <p:cNvPr id="125" name="SidebarIcon125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26" name="SidebarText126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127" name="SidebarHL127"/>
          <p:cNvSpPr/>
          <p:nvPr/>
        </p:nvSpPr>
        <p:spPr>
          <a:xfrm>
            <a:off x="228600" y="267004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28" name="SidebarIcon128"/>
          <p:cNvSpPr/>
          <p:nvPr/>
        </p:nvSpPr>
        <p:spPr>
          <a:xfrm>
            <a:off x="283464" y="26883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29" name="SidebarText129"/>
          <p:cNvSpPr/>
          <p:nvPr/>
        </p:nvSpPr>
        <p:spPr>
          <a:xfrm>
            <a:off x="502920" y="26883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130" name="SidebarIcon130"/>
          <p:cNvSpPr/>
          <p:nvPr/>
        </p:nvSpPr>
        <p:spPr>
          <a:xfrm>
            <a:off x="283464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31" name="SidebarText131"/>
          <p:cNvSpPr/>
          <p:nvPr/>
        </p:nvSpPr>
        <p:spPr>
          <a:xfrm>
            <a:off x="502920" y="31455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132" name="SidebarIcon132"/>
          <p:cNvSpPr/>
          <p:nvPr/>
        </p:nvSpPr>
        <p:spPr>
          <a:xfrm>
            <a:off x="283464" y="36027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133" name="SidebarText133"/>
          <p:cNvSpPr/>
          <p:nvPr/>
        </p:nvSpPr>
        <p:spPr>
          <a:xfrm>
            <a:off x="502920" y="36027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C-2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카테고리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/admin/category/new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admin/category-new.mustache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카테고리 등록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212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카테고리명 *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01368" y="2231136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837944" y="2231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4712" y="2432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01368" y="2450592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837944" y="2450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4712" y="26517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01368" y="267004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837944" y="2670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/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276856" y="2670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96312" y="2670048"/>
            <a:ext cx="1426464" cy="16459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14600" y="26700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/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24712" y="2871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01368" y="2889504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837944" y="28895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276856" y="2889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4712" y="31089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/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88136" y="3264408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143000" y="3264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801368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88136" y="3447288"/>
            <a:ext cx="3035808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143000" y="3447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801368" y="3447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등록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취소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24712" y="39410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카테고리 목록으로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카테고리명 입력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최대 50자, UNIQUE 제약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폼 유효성 검증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항목 미입력 시 차단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📏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등록 처리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POST /admin/category/create → 목록 이동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목록으로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/admin/category/list 이동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등록 성공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Flash: "카테고리가 등록되었습니다."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🗑️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취소 → 목록 이동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/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/admin/category/create  { name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69234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4828032" y="369234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/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39319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389120" y="39319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4144061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4443984" y="4180637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| errorCode | errorMessage
  | inputData: CategoryFormDto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/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/>
            </a:r>
            <a:endParaRPr lang="en-US" sz="750" dirty="0"/>
          </a:p>
        </p:txBody>
      </p:sp>
      <p:sp>
        <p:nvSpPr>
          <p:cNvPr id="102" name="SidebarIcon102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03" name="SidebarText103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104" name="SidebarHL104"/>
          <p:cNvSpPr/>
          <p:nvPr/>
        </p:nvSpPr>
        <p:spPr>
          <a:xfrm>
            <a:off x="228600" y="267004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05" name="SidebarIcon105"/>
          <p:cNvSpPr/>
          <p:nvPr/>
        </p:nvSpPr>
        <p:spPr>
          <a:xfrm>
            <a:off x="283464" y="26883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06" name="SidebarText106"/>
          <p:cNvSpPr/>
          <p:nvPr/>
        </p:nvSpPr>
        <p:spPr>
          <a:xfrm>
            <a:off x="502920" y="26883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107" name="SidebarIcon107"/>
          <p:cNvSpPr/>
          <p:nvPr/>
        </p:nvSpPr>
        <p:spPr>
          <a:xfrm>
            <a:off x="283464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08" name="SidebarText108"/>
          <p:cNvSpPr/>
          <p:nvPr/>
        </p:nvSpPr>
        <p:spPr>
          <a:xfrm>
            <a:off x="502920" y="31455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109" name="SidebarIcon109"/>
          <p:cNvSpPr/>
          <p:nvPr/>
        </p:nvSpPr>
        <p:spPr>
          <a:xfrm>
            <a:off x="283464" y="36027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110" name="SidebarText110"/>
          <p:cNvSpPr/>
          <p:nvPr/>
        </p:nvSpPr>
        <p:spPr>
          <a:xfrm>
            <a:off x="502920" y="36027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C-3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카테고리 상세·수정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/admin/category/detail?categoryId={id}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admin/category-detail.mustache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카테고리 상세·수정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70632" y="19019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76472" y="1938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212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카테고리명 *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01368" y="2231136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837944" y="2231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의료 소모품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4712" y="24323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01368" y="2450592"/>
            <a:ext cx="226771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837944" y="2450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/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4712" y="26517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소속 물품 수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01368" y="2670048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837944" y="2670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50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276856" y="2670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개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96312" y="2670048"/>
            <a:ext cx="1426464" cy="16459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14600" y="26700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/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24712" y="2871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01368" y="2889504"/>
            <a:ext cx="4572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837944" y="28895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활성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276856" y="2889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/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24712" y="31089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등록 정보 (읽기 전용) ──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88136" y="3264408"/>
            <a:ext cx="30358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143000" y="3264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등록일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801368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2025-11-01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88136" y="3447288"/>
            <a:ext cx="3035808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143000" y="3447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최종 수정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801368" y="3447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2026-02-15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124712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142744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비활성화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160776" y="3703320"/>
            <a:ext cx="92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124712" y="39410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카테고리 목록으로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카테고리명 수정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카테고리명 변경 후 저장 (UNIQUE)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소속 물품 수 표시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읽기 전용 카운트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📏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목록으로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/admin/category/list 이동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비활성화 처리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비활성화 시 기존 물품 FK 무결성 유지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카테고리 목록으로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/admin/category/list 이동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370832" y="3010205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🗑️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645152" y="3010205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/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70448" y="3010205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/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15968" y="3288182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4389120" y="328818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4389120" y="35003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350032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4828032" y="350032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/admin/category/update  { categoryId, name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4389120" y="369234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69234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4828032" y="369234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/admin/category/deactivate  { categoryId }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3931920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389120" y="393192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89120" y="4144061"/>
            <a:ext cx="4590288" cy="38404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4443984" y="4180637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category: ItemCategoryDto
  ↳ {id, name, itemCount, isActive,
     createdAt, updatedAt}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/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/>
            </a:r>
            <a:endParaRPr lang="en-US" sz="750" dirty="0"/>
          </a:p>
        </p:txBody>
      </p:sp>
      <p:sp>
        <p:nvSpPr>
          <p:cNvPr id="102" name="SidebarIcon102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03" name="SidebarText103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104" name="SidebarHL104"/>
          <p:cNvSpPr/>
          <p:nvPr/>
        </p:nvSpPr>
        <p:spPr>
          <a:xfrm>
            <a:off x="228600" y="267004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05" name="SidebarIcon105"/>
          <p:cNvSpPr/>
          <p:nvPr/>
        </p:nvSpPr>
        <p:spPr>
          <a:xfrm>
            <a:off x="283464" y="26883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06" name="SidebarText106"/>
          <p:cNvSpPr/>
          <p:nvPr/>
        </p:nvSpPr>
        <p:spPr>
          <a:xfrm>
            <a:off x="502920" y="26883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107" name="SidebarIcon107"/>
          <p:cNvSpPr/>
          <p:nvPr/>
        </p:nvSpPr>
        <p:spPr>
          <a:xfrm>
            <a:off x="283464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08" name="SidebarText108"/>
          <p:cNvSpPr/>
          <p:nvPr/>
        </p:nvSpPr>
        <p:spPr>
          <a:xfrm>
            <a:off x="502920" y="31455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109" name="SidebarIcon109"/>
          <p:cNvSpPr/>
          <p:nvPr/>
        </p:nvSpPr>
        <p:spPr>
          <a:xfrm>
            <a:off x="283464" y="36027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110" name="SidebarText110"/>
          <p:cNvSpPr/>
          <p:nvPr/>
        </p:nvSpPr>
        <p:spPr>
          <a:xfrm>
            <a:off x="502920" y="36027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내 정보관리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물품 담당자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4B5FD"/>
                </a:solidFill>
              </a:rPr>
              <a:t>화면 36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물품 담당자 내 정보관리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B5FD"/>
                </a:solidFill>
              </a:rPr>
              <a:t>GET  /admin/mypage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C4B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</a:rPr>
              <a:t>admin/mypage.mustache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내 정보관리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김담당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4712" y="2194560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 ──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088136" y="2350008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43000" y="2350008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김담당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837944" y="2350008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088136" y="2542032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143000" y="25420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사원 번호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I-20220601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37944" y="2542032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88136" y="273405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143000" y="27340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담당 업무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병원 물품 재고 관리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37944" y="2734056"/>
            <a:ext cx="2231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BD5E1"/>
                </a:solidFill>
              </a:rPr>
              <a:t>(읽기전용)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088136" y="292608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143000" y="2926080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19656" y="2953512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856232" y="2953512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kimdm@hospital.kr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088136" y="311810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143000" y="311810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연락처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819656" y="3145536"/>
            <a:ext cx="2249424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856232" y="3145536"/>
            <a:ext cx="2176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010-5678-1234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24712" y="3355848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비밀번호 변경 ──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88136" y="3511296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143000" y="351129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현재 비밀번호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892808" y="3538728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929384" y="3538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2A42"/>
                </a:solidFill>
              </a:rPr>
              <a:t>••••••••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88136" y="3703320"/>
            <a:ext cx="3035808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143000" y="37033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892808" y="3730752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929384" y="373075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88136" y="3895344"/>
            <a:ext cx="3035808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1143000" y="389534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새 비밀번호 확인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92808" y="3922776"/>
            <a:ext cx="2176272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929384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12471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저장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2587752" y="4142232"/>
            <a:ext cx="1426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취소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124712" y="4370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← 대시보드로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15968" y="1858061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4370832" y="1858061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1858061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정보 표시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1858061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이름·사원번호·담당업무 (읽기 전용)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370832" y="20884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✉️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20884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이메일 수정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20884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315968" y="2318918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4370832" y="2318918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📞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645152" y="2318918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연락처 수정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70448" y="2318918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수정 가능, 저장 시 DB 반영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370832" y="2549347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2549347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비밀번호 변경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2549347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현재 비밀번호 확인 후 새 비밀번호 설정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315968" y="2779776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4370832" y="2779776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45152" y="2779776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70448" y="2779776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15968" y="3057754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4389120" y="305775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4389120" y="326989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791456" y="3269894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828032" y="32698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/item/mypage/update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425696" y="3461918"/>
            <a:ext cx="4535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요청: { email?, phone?, currentPw?, newPw? }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315968" y="3710635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4389120" y="3710635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🏗️  S4 사이드바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389120" y="3922776"/>
            <a:ext cx="4590288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4443984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S4 (ADMIN)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</a:rPr>
              <a:t>대시보드·물품관리·내 정보관리(강조)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315968" y="4464101"/>
            <a:ext cx="4736592" cy="175565"/>
          </a:xfrm>
          <a:prstGeom prst="rect">
            <a:avLst/>
          </a:prstGeom>
          <a:solidFill>
            <a:srgbClr val="000000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4389120" y="4464101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389120" y="4676242"/>
            <a:ext cx="4590288" cy="32918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4443984" y="471281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>pageTitle · manager: Staff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</a:rPr>
              <a:t xml:space="preserve">  ↳ {name, employeeNo, role, email, phone}</a:t>
            </a:r>
            <a:endParaRPr lang="en-US" sz="750" dirty="0"/>
          </a:p>
        </p:txBody>
      </p:sp>
      <p:sp>
        <p:nvSpPr>
          <p:cNvPr id="109" name="SidebarIcon109"/>
          <p:cNvSpPr/>
          <p:nvPr/>
        </p:nvSpPr>
        <p:spPr>
          <a:xfrm>
            <a:off x="283464" y="22311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10" name="SidebarText110"/>
          <p:cNvSpPr/>
          <p:nvPr/>
        </p:nvSpPr>
        <p:spPr>
          <a:xfrm>
            <a:off x="502920" y="22311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대시보드</a:t>
            </a:r>
            <a:endParaRPr lang="en-US" sz="700" dirty="0"/>
          </a:p>
        </p:txBody>
      </p:sp>
      <p:sp>
        <p:nvSpPr>
          <p:cNvPr id="111" name="SidebarIcon111"/>
          <p:cNvSpPr/>
          <p:nvPr/>
        </p:nvSpPr>
        <p:spPr>
          <a:xfrm>
            <a:off x="283464" y="26883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12" name="SidebarText112"/>
          <p:cNvSpPr/>
          <p:nvPr/>
        </p:nvSpPr>
        <p:spPr>
          <a:xfrm>
            <a:off x="502920" y="26883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카테고리</a:t>
            </a:r>
            <a:endParaRPr lang="en-US" sz="700" dirty="0"/>
          </a:p>
        </p:txBody>
      </p:sp>
      <p:sp>
        <p:nvSpPr>
          <p:cNvPr id="113" name="SidebarIcon113"/>
          <p:cNvSpPr/>
          <p:nvPr/>
        </p:nvSpPr>
        <p:spPr>
          <a:xfrm>
            <a:off x="283464" y="31455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14" name="SidebarText114"/>
          <p:cNvSpPr/>
          <p:nvPr/>
        </p:nvSpPr>
        <p:spPr>
          <a:xfrm>
            <a:off x="502920" y="31455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물품관리</a:t>
            </a:r>
            <a:endParaRPr lang="en-US" sz="700" dirty="0"/>
          </a:p>
        </p:txBody>
      </p:sp>
      <p:sp>
        <p:nvSpPr>
          <p:cNvPr id="115" name="SidebarHL115"/>
          <p:cNvSpPr/>
          <p:nvPr/>
        </p:nvSpPr>
        <p:spPr>
          <a:xfrm>
            <a:off x="228600" y="3584448"/>
            <a:ext cx="82296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16" name="SidebarIcon116"/>
          <p:cNvSpPr/>
          <p:nvPr/>
        </p:nvSpPr>
        <p:spPr>
          <a:xfrm>
            <a:off x="283464" y="360273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117" name="SidebarText117"/>
          <p:cNvSpPr/>
          <p:nvPr/>
        </p:nvSpPr>
        <p:spPr>
          <a:xfrm>
            <a:off x="502920" y="360273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내 정보관리</a:t>
            </a:r>
            <a:endParaRPr lang="en-US" sz="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286000" cy="228600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"/>
            <a:ext cx="2560320" cy="256032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2834640" cy="283464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3108960" cy="310896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005840"/>
            <a:ext cx="3383280" cy="33832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관리자 (ADMIN)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4592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ROLE_ADMIN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2304288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목표: 병원 전체 시스템 운영 — 예약·직원·진료과·규칙 통합 관리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화면 05 · 17 · 18 · 19 · 22 · 23 · 24 · 25 · 26 · 30 · 31 · 32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914400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42"/>
                </a:solidFill>
              </a:rPr>
              <a:t>관리자 (ADMIN)  —  화면 여정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2252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1C1C"/>
                </a:solidFill>
              </a:rPr>
              <a:t>병원 전체 시스템 운영 — 예약·직원·진료과·규칙 통합 관리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499616"/>
            <a:ext cx="8631936" cy="274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91C1C"/>
                </a:solidFill>
              </a:rPr>
              <a:t>①  접속 → 현황 파악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865376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9202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05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로그인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ADMIN 계정 로그인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12848" y="2240280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136" y="2176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14016" y="1865376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19202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17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87168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관리자 대시보드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87168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전체 현황 파악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70832" y="2240280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176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865376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9202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18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5152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전체 예약 목록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45152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전체 기간 예약 조회
▶ 화면 19  예약 상세·취소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28816" y="2240280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21762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9984" y="1865376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92024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22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03136" y="20848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직원 목록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03136" y="23408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직원 현황 조회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032" y="2761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B91C1C"/>
                </a:solidFill>
              </a:rPr>
              <a:t>②  직원 등록 → 규칙·진료과 관리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999232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0540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23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9184" y="321868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직원 등록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" y="34747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신규 직원 계정 생성
▶ 화면 24  직원 상세·수정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12848" y="3374136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31136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14016" y="2999232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87168" y="30540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30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87168" y="321868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규칙 목록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87168" y="34747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병원 규칙 조회·토글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70832" y="3374136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2999232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30540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31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45152" y="321868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규칙 등록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45152" y="34747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새 병원 규칙 등록
▶ 화면 32  규칙 상세·수정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528816" y="3374136"/>
            <a:ext cx="20116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29984" y="2999232"/>
            <a:ext cx="1956816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03136" y="305409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</a:rPr>
              <a:t>화면 25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03136" y="321868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진료과 목록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03136" y="347472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진료과 인라인 등록
▶ 화면 26  진료과 상세·수정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56032" y="4133088"/>
            <a:ext cx="283464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6576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68096" y="4224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통합 대시보드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68096" y="448056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 예약·누적·직원 수·재고 부족 + 진료과별 바 차트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18688" y="4133088"/>
            <a:ext cx="283464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328416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👔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3730752" y="4224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직원 계정 관리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730752" y="448056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STAFF·DOCTOR·NURSE·ADMIN 계정 생성·수정·비활성화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181344" y="4133088"/>
            <a:ext cx="283464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EE2E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291072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6693408" y="4224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2"/>
                </a:solidFill>
              </a:rPr>
              <a:t>병원 규칙 CRUD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693408" y="448056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규칙 등록 즉시 챗봇 컨텍스트에 반영 (is_active 토글)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로그인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/login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auth/login.mustache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9169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🏥 ○○병원 내부 시스템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" y="2267712"/>
            <a:ext cx="3236976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239572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2"/>
                </a:solidFill>
              </a:rPr>
              <a:t>직원 로그인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2670048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52728" y="2670048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9304" y="267004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admin01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" y="292608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비밀번호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2728" y="2926080"/>
            <a:ext cx="2450592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2926080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••••••••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5526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로그인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" y="3547872"/>
            <a:ext cx="3090672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547872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⚠️ 아이디 또는 비밀번호가 올바르지 않습니다. (←?error 파라미터 시만 표시)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01752" y="4005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🔒 내부 직원 전용 시스템입니다.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인증 처리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ADMIN 계정 아이디·비밀번호 검증 후 세션 생성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🛡️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권한 체크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ROLE_ADMIN만 허용 / 타 역할 로그인 차단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오류 표시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자격증명 불일치 시 ?error 리다이렉트 → 인라인 표시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/login  (Spring Security FormLogin)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자격증명 불일치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?error 쿼리 파라미터로 리다이렉트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3425342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42534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89120" y="3600907"/>
            <a:ext cx="4590288" cy="20116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43984" y="3637483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error? : String  (오류 메시지)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17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관리자 대시보드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admin/dashboard.mustache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대시보드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1579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06424" y="21945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A42"/>
                </a:solidFill>
              </a:rPr>
              <a:t>📅 2026년 3월 15일 (월)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6424" y="2377440"/>
            <a:ext cx="7360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06424" y="2414016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18건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06424" y="2633472"/>
            <a:ext cx="7360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오늘 예약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860804" y="2377440"/>
            <a:ext cx="7360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860804" y="2414016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1,247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860804" y="2633472"/>
            <a:ext cx="7360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총 예약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615184" y="2377440"/>
            <a:ext cx="7360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15184" y="2414016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12명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615184" y="2633472"/>
            <a:ext cx="7360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직원 수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369564" y="2377440"/>
            <a:ext cx="73609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369564" y="2414016"/>
            <a:ext cx="7360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5건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369564" y="2633472"/>
            <a:ext cx="7360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재고 부족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106424" y="2834640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진료과별 예약 현황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06424" y="2980944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내과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527048" y="2999232"/>
            <a:ext cx="1566916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76472" y="2980944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432건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106424" y="312724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27048" y="3145536"/>
            <a:ext cx="141457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76472" y="31272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389건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106424" y="327355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피부과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527048" y="3291840"/>
            <a:ext cx="783458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76472" y="327355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218건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106424" y="3456432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빠른 메뉴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106424" y="3602736"/>
            <a:ext cx="97536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6424" y="3602736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</a:rPr>
              <a:t>예약 관리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118360" y="3602736"/>
            <a:ext cx="97536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18360" y="3602736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</a:rPr>
              <a:t>직원 관리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130296" y="3602736"/>
            <a:ext cx="97536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30296" y="3602736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</a:rPr>
              <a:t>규칙 관리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통계 4종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오늘 예약·총 예약·직원 수·재고 부족 건수 카드 표시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📈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진료과별 현황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전체 기간 진료과별 예약 건수 가로 바 표시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빠른 메뉴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예약 관리·직원 관리·규칙 관리 바로가기 버튼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/admin/dashboard/stats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89120" y="3169310"/>
            <a:ext cx="4590288" cy="29260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43984" y="320588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todayCount · totalCount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staffCount · lowStockCount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deptStats: List&lt;DeptStat&gt;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18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전체 예약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/admin/reservation/list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admin/reservation-list.mustache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예약관리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28600" y="26151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94560"/>
            <a:ext cx="2999232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9456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날짜  2026-03-01 ~ 2026-03-15  |  상태 [전체▼]  진료과 [전체▼]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106424" y="2395728"/>
            <a:ext cx="299923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95728"/>
            <a:ext cx="16795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환자명 [___________]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965948" y="2423160"/>
            <a:ext cx="347472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65948" y="2423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검색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349996" y="2423160"/>
            <a:ext cx="347472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49996" y="2423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</a:rPr>
              <a:t>초기화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106424" y="259689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총 87건 중 20건 표시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106424" y="2743200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24712" y="27432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예약번호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581912" y="27432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날짜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965960" y="27432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환자명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441448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843784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246120" y="27432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상태·처리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24712" y="29077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RES-001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581912" y="29077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03/15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965960" y="29077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홍길동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441448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843784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김철수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246120" y="29077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🟢 RECEIVED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1106424" y="3090672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24712" y="30906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RES-002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581912" y="3090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03/15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965960" y="30906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이영희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2441448" y="3090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내과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843784" y="3090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이영수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3246120" y="3090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45309"/>
                </a:solidFill>
              </a:rPr>
              <a:t>🟡 RESERVED  [취소]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106424" y="3273552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24712" y="32735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RES-003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581912" y="32735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03/14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965960" y="32735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박민준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441448" y="3273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피부과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843784" y="3273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최지은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3246120" y="32735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✅ COMPLETED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106424" y="3493008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[이전]  ◀  1  2  3  4  5  ▶  [다음]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복합 필터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날짜 범위·상태·진료과·의사·환자명 동시 필터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취소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COMPLETED 외 상태에 [취소] 버튼 표시 → 확인 모달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페이징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한 페이지 20건 / 총 건수 표시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/admin/reservation/list  ?startDate&amp;endDate&amp;status&amp;page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791456" y="294619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28032" y="294619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/admin/reservation/cancel  { reservationId }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315968" y="3185770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0" y="318577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389120" y="3361334"/>
            <a:ext cx="4590288" cy="31089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443984" y="339791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totalCount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reservations: Page&lt;Reservation&gt;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date, patient, dept, doctor, status}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19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예약 상세·취소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/admin/reservation/detail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admin/reservation-detail.mustache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예약관리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30723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06424" y="2194560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예약 정보 (읽기 전용)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106424" y="2350008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61288" y="235000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예약번호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46504" y="2377440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83080" y="2377440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RES-20260315-001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106424" y="2542032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1288" y="254203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 날짜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46504" y="2569464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2569464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2026-03-15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106424" y="2734056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61288" y="2734056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예약 시간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746504" y="2761488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83080" y="2761488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09:00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06424" y="2926080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1288" y="2926080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환자명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746504" y="2953512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83080" y="2953512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홍길동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06424" y="3154680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── 진료 정보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106424" y="3310128"/>
            <a:ext cx="2999232" cy="1920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61288" y="331012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진료과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746504" y="3337560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83080" y="3337560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외과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106424" y="3502152"/>
            <a:ext cx="2999232" cy="1920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61288" y="350215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담당 의사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746504" y="3529584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83080" y="3529584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김철수 전문의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106424" y="3749040"/>
            <a:ext cx="147218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6424" y="374904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예약 취소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633472" y="3749040"/>
            <a:ext cx="147218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33472" y="374904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← 예약 목록으로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06424" y="400507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/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상세 조회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예약번호·환자·진료과·의사·일시 읽기 전용 표시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🩺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예약 취소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CANCELLED 상태 전환, 목록 리다이렉트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오류 처리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이미 CANCELLED·COMPLETED 예약은 취소 불가 안내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/admin/reservation/cancel  { reservationId }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오류 처리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필드 강조 + 오류 메시지 인라인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3377794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07408" y="3377794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300216" y="3377794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표시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15968" y="363382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63382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809390"/>
            <a:ext cx="4590288" cy="20116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43984" y="384596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reservation: Reservation
  ↳ {id, number, patient, department, doctor, date, time, status}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직원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/admin/staff/list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admin/staff-list.mustache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직원관리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30723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410712" y="2194560"/>
            <a:ext cx="676656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219456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+ 직원 등록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06424" y="2395728"/>
            <a:ext cx="299923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9572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ROLE [전체▼]  재직 [재직중▼]  이름 [__________]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374136" y="2423160"/>
            <a:ext cx="329184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4136" y="242316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검색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106424" y="2596896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총 12명 중 12명 표시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106424" y="2743200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" y="274320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이름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563624" y="2743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아이디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057400" y="27432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ROLE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532888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2935224" y="27432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106424" y="2907792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24712" y="290779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김철수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563624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doctor01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057400" y="29077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</a:rPr>
              <a:t>DOCTOR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532888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935224" y="29077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1106424" y="3090672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24712" y="30906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이민지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563624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staff01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057400" y="30906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97316"/>
                </a:solidFill>
              </a:rPr>
              <a:t>STAFF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532888" y="3090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—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935224" y="309067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106424" y="3273552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24712" y="32735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박지현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563624" y="32735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nurse01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057400" y="32735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B2777"/>
                </a:solidFill>
              </a:rPr>
              <a:t>NURSE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532888" y="3273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3병동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935224" y="32735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1106424" y="3493008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[이전]  1 / 1  [다음]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필터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ROLE·재직 여부·이름 복합 검색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✏️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수정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→ /admin/staff/detail?staffId={id}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🚫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비활성화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is_active=FALSE 처리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/admin/staff/list  ?role&amp;active&amp;keyword&amp;page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294619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28032" y="294619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/admin/staff/deactivate  { staffId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3185770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18577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389120" y="3361334"/>
            <a:ext cx="4590288" cy="31089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443984" y="339791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totalCount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staffList: Page&lt;Staff&gt;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name, username, role, dept}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직원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/admin/staff/new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admin/staff-new.mustache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직원관리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30723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06424" y="2194560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기본 정보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106424" y="2350008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61288" y="235000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아이디  *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46504" y="2377440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83080" y="2377440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admin_user  (영문·숫자 4~20자)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106424" y="2542032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1288" y="254203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비밀번호 *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46504" y="2569464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2569464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(영문·숫자·특수 8자 이상)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106424" y="2734056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61288" y="2734056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이름  *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746504" y="2761488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83080" y="2761488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홍길순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06424" y="2926080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1288" y="2926080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ROLE  *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746504" y="2953512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83080" y="2953512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[  DOCTOR  ▼  ]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06424" y="3154680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── 의사 전용 (DOCTOR 선택 시 노출)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106424" y="3310128"/>
            <a:ext cx="2999232" cy="1920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61288" y="331012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진료과  *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746504" y="3337560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83080" y="3337560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[  외과  ▼  ]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106424" y="3502152"/>
            <a:ext cx="2999232" cy="1920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61288" y="350215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진료 요일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746504" y="3529584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83080" y="3529584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☑월 ☑화 ☐수 ☑목 ☐금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106424" y="3749040"/>
            <a:ext cx="147218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6424" y="374904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등록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633472" y="3749040"/>
            <a:ext cx="147218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33472" y="374904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취소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06424" y="400507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← 직원 목록으로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입력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아이디·비밀번호·이름·ROLE 필수 입력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🩺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DOCTOR 확장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ROLE=DOCTOR 선택 시 진료과·요일 필드 동적 노출 (JS)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아이디 중복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DUPLICATE_USERNAME 수신 시 필드 강조 + 인라인 오류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/admin/staff/create  { username, pw, name, role, dept? }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아이디 중복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필드 강조 + 오류 메시지 인라인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3377794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07408" y="3377794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300216" y="3377794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표시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15968" y="363382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63382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809390"/>
            <a:ext cx="4590288" cy="20116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43984" y="384596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직원 상세·수정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/admin/staff/detail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admin/staff-detail.mustache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직원관리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30723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06424" y="2194560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직원 정보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106424" y="2350008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61288" y="235000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아이디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46504" y="2377440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83080" y="2377440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doc_kimcs (읽기 전용)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106424" y="2542032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1288" y="254203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ROLE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46504" y="2569464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2569464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김철수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106424" y="2734056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61288" y="2734056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ROLE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746504" y="2761488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83080" y="2761488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DOCTOR (읽기 전용)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06424" y="2926080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1288" y="2926080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이메일  *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746504" y="2953512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83080" y="2953512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kimcs@hospital.kr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06424" y="3154680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D4ED8"/>
                </a:solidFill>
              </a:rPr>
              <a:t>── 의사 추가 정보 (DOCTOR 시 표시)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106424" y="3310128"/>
            <a:ext cx="2999232" cy="1920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61288" y="3310128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진료과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746504" y="3337560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83080" y="3337560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외과 (읽기 전용)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106424" y="3502152"/>
            <a:ext cx="2999232" cy="1920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61288" y="3502152"/>
            <a:ext cx="5852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</a:rPr>
              <a:t>진료 요일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746504" y="3529584"/>
            <a:ext cx="2304288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83080" y="3529584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☑월 ☑화 ☐수 ☑목 ☐금  (수정 가능)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106424" y="3749040"/>
            <a:ext cx="147218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6424" y="374904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저장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633472" y="3749040"/>
            <a:ext cx="147218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33472" y="374904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비활성화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06424" y="400507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← 직원 목록으로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직원 정보 수정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이메일·연락처·진료요일 수정 가능, 아이디·ROLE은 읽기 전용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🩺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비활성화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확인 모달 후 is_active=false 전환, 로그인 차단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저장 성공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(페이지 유지)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/admin/staff/update  { staffId, email?, phone?, workDays? }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저장 성공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필드 강조 + 오류 메시지 인라인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15968" y="3377794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07408" y="3377794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300216" y="3377794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표시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15968" y="363382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63382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389120" y="3809390"/>
            <a:ext cx="4590288" cy="20116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43984" y="384596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staff: Staff
  ↳ {id, username, name, role, email, phone, department?, workDays?}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진료과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/admin/department/list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admin/department-list.mustache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진료과관리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28600" y="35295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374136" y="2176272"/>
            <a:ext cx="71323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217627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+ 진료과 등록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06424" y="2377440"/>
            <a:ext cx="299923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7744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상태 [전체▼]  진료과명 [______________]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106424" y="2578608"/>
            <a:ext cx="2999232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1288" y="2578608"/>
            <a:ext cx="17995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진료과명  [____________________]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25932" y="2606040"/>
            <a:ext cx="329184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25932" y="26060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등록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391692" y="2606040"/>
            <a:ext cx="329184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91692" y="26060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닫기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106424" y="2816352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총 6개 진료과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106424" y="2962656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" y="29626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진료과명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801368" y="2962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소속의사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167128" y="296265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514600" y="2962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106424" y="312724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24712" y="3127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내과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801368" y="31272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2명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167128" y="31272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514600" y="31272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106424" y="331012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24712" y="3310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801368" y="33101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2명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167128" y="331012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514600" y="33101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106424" y="349300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24712" y="3493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피부과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801368" y="34930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1명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167128" y="349300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비활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514600" y="34930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[활성화]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1106424" y="3712464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[이전]  1 / 1  [다음]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➕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인라인 등록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[+ 진료과 등록] 클릭 시 목록 상단에 입력 폼 노출 (페이지 이동 없음)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활성·비활성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토글 → 예약 화면·LLM 프롬프트에서 즉시 제외/포함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👨‍⚕️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소속 의사 수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각 진료과 활성 의사 수 표시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/admin/department/list  ?active&amp;keyword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91456" y="294619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28032" y="294619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/admin/department/create  { name }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389120" y="3138221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0" y="3138221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91456" y="3138221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28032" y="3138221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/admin/department/deactivate  { departmentId }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15968" y="3377794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337779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⚠️  비활성화 영향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315968" y="3553358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07408" y="3553358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예약 화면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6300216" y="3553358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해당 진료과 선택지에서 즉시 제외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4315968" y="3761842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07408" y="3761842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LLM 프롬프트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300216" y="3761842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증상 추천 대상에서 즉시 제외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315968" y="4017874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89120" y="4017874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389120" y="4193438"/>
            <a:ext cx="4590288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43984" y="423001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name, doctorCount, isActive}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진료과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POST  /admin/department/create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admin/department-list.mustache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진료과관리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28600" y="35295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94560"/>
            <a:ext cx="2999232" cy="14630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94560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66534"/>
                </a:solidFill>
              </a:rPr>
              <a:t>ℹ️  진료과 등록 즉시 예약 화면·LLM 증상 추천에 반영됩니다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106424" y="2377440"/>
            <a:ext cx="2999232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7744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진료과 등록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06424" y="2560320"/>
            <a:ext cx="2999232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1288" y="25603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진료과명  *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746504" y="2587752"/>
            <a:ext cx="18105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258775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흉부외과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30168" y="2587752"/>
            <a:ext cx="402336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0168" y="258775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등록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61288" y="2788920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 닫기 ]  —  취소 시 폼 숨김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06424" y="2953512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── 현재 등록된 진료과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106424" y="3099816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30998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진료과명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728216" y="30998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소속의사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075688" y="3099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386584" y="30998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106424" y="326440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24712" y="32644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내과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728216" y="326440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2명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075688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386584" y="326440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1106424" y="344728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" y="3447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외과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728216" y="34472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2명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075688" y="3447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386584" y="34472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106424" y="363016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4712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피부과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728216" y="363016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1명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075688" y="3630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비활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386584" y="363016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[활성화]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106424" y="381304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24712" y="3813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정신건강의학과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1728216" y="38130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0명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075688" y="3813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386584" y="381304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[상세] [비활성]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106424" y="4032504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← 진료과 목록으로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진료과명 입력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입력, 중복 불가, 최대 50자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즉시 반영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등록 완료 시 예약 화면 선택지 + LLM 증상 추천에 즉시 포함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활성 상태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등록 시 is_active=TRUE로 생성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/admin/department/create  { name }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진료과명 중복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DUPLICATE_DEPT_NAME → 필드 강조 + 인라인 표시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315968" y="3377794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07408" y="3377794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300216" y="3377794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오류 표시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315968" y="363382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89120" y="363382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🔗  등록 후 동작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315968" y="380939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70832" y="38093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645152" y="38093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성공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870448" y="38093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+ 인라인 폼 닫힘 + 목록에 즉시 추가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15968" y="408736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08736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389120" y="4262933"/>
            <a:ext cx="4590288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43984" y="4299509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name, doctorCount, isActive}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진료과 상세·수정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/admin/department/detail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admin/department-detail.mustache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진료과관리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28600" y="35295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94560"/>
            <a:ext cx="2999232" cy="14630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94560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66534"/>
                </a:solidFill>
              </a:rPr>
              <a:t>ℹ️  진료과 상세·수정 즉시 예약 화면·LLM 증상 추천에 반영됩니다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106424" y="2377440"/>
            <a:ext cx="2999232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7744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진료과 상세·수정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06424" y="2560320"/>
            <a:ext cx="2999232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1288" y="25603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진료과명  *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746504" y="2587752"/>
            <a:ext cx="181051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258775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2A42"/>
                </a:solidFill>
              </a:rPr>
              <a:t>이외과 (수정 가능)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30168" y="2587752"/>
            <a:ext cx="402336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0168" y="258775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등록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61288" y="2788920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── 소속 의사 현황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06424" y="2953512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/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106424" y="3099816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30998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의사명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728216" y="309981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진료 요일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075688" y="3099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386584" y="30998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/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106424" y="326440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24712" y="32644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김철수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728216" y="326440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월·화·목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075688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재직중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386584" y="326440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/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1106424" y="344728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" y="34472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이외과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728216" y="34472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월·화·목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075688" y="3447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재직중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386584" y="34472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/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106424" y="3630168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4712" y="3630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/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728216" y="363016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/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075688" y="36301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재직중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386584" y="363016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/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106424" y="381304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24712" y="38130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/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1728216" y="38130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/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075688" y="3813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재직중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386584" y="381304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/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1106424" y="4032504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저장   비활성화   ← 진료과 목록으로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진료과명 수정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필수 입력, 중복 불가, 최대 50자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즉시 반영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등록 완료 시 예약 화면 선택지 + LLM 증상 추천에 즉시 포함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기본 활성 상태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등록 시 is_active=TRUE로 생성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/admin/department/create  { name }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의사명 중복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DUPLICATE_DEPT_NAME → 필드 강조 + 인라인 표시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315968" y="3377794"/>
            <a:ext cx="4736592" cy="208483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07408" y="3377794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300216" y="3377794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오류 표시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315968" y="363382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89120" y="363382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🔗  등록 후 동작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315968" y="380939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70832" y="380939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645152" y="380939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성공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5870448" y="380939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완료 toast 표시 + 인라인 폼 닫힘 + 목록에 즉시 추가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15968" y="408736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0" y="408736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389120" y="4262933"/>
            <a:ext cx="4590288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43984" y="4299509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departments: List&lt;Department&gt;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name, doctorCount, isActive}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30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병원 규칙 목록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/admin/rule/list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admin/rule-list.mustache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규칙관리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28600" y="39867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76272"/>
            <a:ext cx="2999232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7627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400E"/>
                </a:solidFill>
              </a:rPr>
              <a:t>ℹ️  등록·수정된 규칙은 챗봇 답변에 즉시 반영됩니다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410712" y="2359152"/>
            <a:ext cx="676656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235915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+ 규칙 등록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106424" y="2560320"/>
            <a:ext cx="2999232" cy="1645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1288" y="256032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카테고리 [전체▼]  활성 [활성▼]  제목 검색 [______________]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106424" y="2761488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총 8건 중 6건 표시 (활성)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106424" y="2907792"/>
            <a:ext cx="2999232" cy="1645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" y="290779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규칙 제목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039112" y="2907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카테고리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551176" y="290779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상태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825496" y="290779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관리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106424" y="3072384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30723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응급 처치 절차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039112" y="307238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EMERGENCY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551176" y="307238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825496" y="307238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106424" y="3255264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24712" y="325526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물품 보관 위치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039112" y="32552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SUPPLY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551176" y="325526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59669"/>
                </a:solidFill>
              </a:rPr>
              <a:t>🟢 활성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825496" y="325526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[비활성]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1106424" y="3438144"/>
            <a:ext cx="299923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24712" y="343814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당직 근무 규정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039112" y="34381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DUTY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2551176" y="343814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DC2626"/>
                </a:solidFill>
              </a:rPr>
              <a:t>🔴 비활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825496" y="34381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[수정] [활성화]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106424" y="3657600"/>
            <a:ext cx="2999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[이전]  1 / 1  [다음]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필터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카테고리·활성 여부·제목 복합 검색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토글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[비활성]/[활성화] 클릭 → 챗봇 컨텍스트 즉시 변경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챗봇 연동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규칙만 LLM 프롬프트 컨텍스트에 포함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GET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/admin/rule/list  ?category&amp;active&amp;keyword&amp;page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0" y="29461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791456" y="2946197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28032" y="294619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/admin/rule/toggleActive  { ruleId }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315968" y="3185770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0" y="3185770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89120" y="3361334"/>
            <a:ext cx="4590288" cy="310896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43984" y="339791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 · totalCount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rules: Page&lt;Rule&gt;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↳ {id, title, category, isActive}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31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병원 규칙 등록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/admin/rule/new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admin/rule-new.mustache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규칙관리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28600" y="39867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76272"/>
            <a:ext cx="2999232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7627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400E"/>
                </a:solidFill>
              </a:rPr>
              <a:t>ℹ️  등록 즉시 챗봇 답변에 반영됩니다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106424" y="2359152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5915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제목  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64792" y="2386584"/>
            <a:ext cx="228600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01368" y="2386584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응급 처치 절차  (예: 응급 처치 절차)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106424" y="2551176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61288" y="2551176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  *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764792" y="2578608"/>
            <a:ext cx="228600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01368" y="2578608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[ EMERGENCY ▼ ]  EMERGENCY/SUPPLY/DUTY/HYGIENE/OTHER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61288" y="2743200"/>
            <a:ext cx="2889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규칙 내용  *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106424" y="2889504"/>
            <a:ext cx="29992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61288" y="29260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규칙의 세부 내용을 입력하세요.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직원들이 챗봇에 질문할 때 이 내용을 바탕으로 답변됩니다.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465576" y="323697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0 / 3000자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106424" y="340156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61288" y="340156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활성 여부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764792" y="3401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⦿ 활성  ○ 비활성  (비활성 시 챗봇 미반영)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106424" y="3621024"/>
            <a:ext cx="147218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6424" y="362102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등록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33472" y="3621024"/>
            <a:ext cx="147218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33472" y="362102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취소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06424" y="3877056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← 규칙 목록으로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내용 입력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제목·카테고리·규칙내용(최대 3000자) 필수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글자 수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규칙 내용 실시간 카운터 표시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즉시 반영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등록 시 챗봇 컨텍스트 즉시 적용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/admin/rule/create  { title, category, content, isActive }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표시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315968" y="3425342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342534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389120" y="3600907"/>
            <a:ext cx="4590288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43984" y="3637483"/>
            <a:ext cx="4480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🏥 병원 예약 &amp; 내부 업무 시스템  |  관리자 (ADMIN) 화면 상세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63840" y="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화면 32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6032" y="6583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2"/>
                </a:solidFill>
              </a:rPr>
              <a:t>병원 규칙 상세·수정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804672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43584"/>
            <a:ext cx="256032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GET  /admin/rule/detail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1243584"/>
            <a:ext cx="3200400" cy="214884"/>
          </a:xfrm>
          <a:prstGeom prst="rect">
            <a:avLst/>
          </a:prstGeom>
          <a:solidFill>
            <a:srgbClr val="F8FA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243584"/>
            <a:ext cx="316382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91C1C"/>
                </a:solidFill>
              </a:rPr>
              <a:t>admin/rule-detail.mustache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36208" y="1243584"/>
            <a:ext cx="2670048" cy="214884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43584"/>
            <a:ext cx="2633472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L2  H2 헤더 / S4 사이드바 / F2 푸터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3931920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393192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28216"/>
            <a:ext cx="91440" cy="9144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" y="1728216"/>
            <a:ext cx="91440" cy="91440"/>
          </a:xfrm>
          <a:prstGeom prst="OVAL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1728216"/>
            <a:ext cx="91440" cy="91440"/>
          </a:xfrm>
          <a:prstGeom prst="OVAL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19072"/>
            <a:ext cx="33284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1901952"/>
            <a:ext cx="3931920" cy="237744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🏥 ○○병원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16152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B4C8"/>
                </a:solidFill>
              </a:rPr>
              <a:t>— 규칙관리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0" y="1901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A0B4C8"/>
                </a:solidFill>
              </a:rPr>
              <a:t>관리자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9385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</a:rPr>
              <a:t>로그아웃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822960" cy="24963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" y="21762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대시보드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" y="26334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예약관리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0906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직원관리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432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" y="35478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진료과관리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28600" y="3986784"/>
            <a:ext cx="822960" cy="2743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00507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규칙관리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8600" y="4636008"/>
            <a:ext cx="393192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</a:rPr>
              <a:t>© 2026 ○○병원 내부 시스템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06424" y="2176272"/>
            <a:ext cx="2999232" cy="1463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217627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400E"/>
                </a:solidFill>
              </a:rPr>
              <a:t>ℹ️  수정 즉시 챗봇 답변에 반영됩니다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106424" y="2359152"/>
            <a:ext cx="2999232" cy="192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235915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제목  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64792" y="2386584"/>
            <a:ext cx="228600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01368" y="2386584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응급 처치 절차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106424" y="2551176"/>
            <a:ext cx="2999232" cy="1920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61288" y="2551176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카테고리  *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764792" y="2578608"/>
            <a:ext cx="228600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01368" y="2578608"/>
            <a:ext cx="22128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[ EMERGENCY ▼ ]  EMERGENCY/SUPPLY/DUTY/HYGIENE/OTHER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61288" y="2743200"/>
            <a:ext cx="2889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규칙 내용  *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106424" y="2889504"/>
            <a:ext cx="29992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61288" y="29260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규칙의 세부 내용을 입력하세요.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직원들이 챗봇에 질문할 때 이 내용을 바탕으로 답변됩니다.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465576" y="323697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0 / 3000자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106424" y="3401568"/>
            <a:ext cx="2999232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61288" y="340156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활성 여부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764792" y="3401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⦿ 활성  ○ 비활성  (비활성 시 챗봇 미반영)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106424" y="3621024"/>
            <a:ext cx="147218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6424" y="362102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저장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33472" y="3621024"/>
            <a:ext cx="147218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33472" y="362102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취소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06424" y="3877056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1C1C"/>
                </a:solidFill>
              </a:rPr>
              <a:t>삭제   ← 규칙 목록으로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315968" y="16642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16642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⚙️  주요 기능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5968" y="1839773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70832" y="1839773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45152" y="1839773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내용 수정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70448" y="1839773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제목·카테고리·규칙내용 수정 가능 (최대 3000자)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370832" y="2070202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🔢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645152" y="2070202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글자 수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70448" y="2070202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규칙 내용 실시간 카운터 표시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15968" y="2300630"/>
            <a:ext cx="4736592" cy="23042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2300630"/>
            <a:ext cx="2560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645152" y="2300630"/>
            <a:ext cx="120700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A42"/>
                </a:solidFill>
              </a:rPr>
              <a:t>즉시 반영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870448" y="2300630"/>
            <a:ext cx="31089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활성 저장 시 챗봇 컨텍스트 즉시 적용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315968" y="2578608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2578608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🌐  연동 API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275417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POST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91456" y="2754173"/>
            <a:ext cx="418795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28032" y="2754173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/admin/rule/update  { ruleId, title, category, content, isActive }
DELETE → POST /admin/rule/delete  { ruleId }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315968" y="2993746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993746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🔴  오류 처리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315968" y="3169310"/>
            <a:ext cx="4736592" cy="208483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07408" y="3169310"/>
            <a:ext cx="187452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필수 항목 미입력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300216" y="3169310"/>
            <a:ext cx="2679192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제출 차단 + 인라인 표시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315968" y="3425342"/>
            <a:ext cx="4736592" cy="175565"/>
          </a:xfrm>
          <a:prstGeom prst="rect">
            <a:avLst/>
          </a:prstGeom>
          <a:solidFill>
            <a:srgbClr val="E8EDF5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3425342"/>
            <a:ext cx="4590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📦  SSR Model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389120" y="3600907"/>
            <a:ext cx="4590288" cy="1828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43984" y="3637483"/>
            <a:ext cx="4480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</a:rPr>
              <a:t>pageTitle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🏥 병원 예약 &amp; 내부 업무 시스템  |  사용자별 스토리보드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2"/>
                </a:solidFill>
              </a:rPr>
              <a:t>예약 상태 흐름 — 담당자별 전환 책임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각 상태 전이는 지정된 담당 ROLE 하나에서만 처리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9344"/>
            <a:ext cx="1097280" cy="50292"/>
          </a:xfrm>
          <a:prstGeom prst="rect">
            <a:avLst/>
          </a:prstGeom>
          <a:solidFill>
            <a:srgbClr val="0F2A42"/>
          </a:solidFill>
          <a:ln w="12700">
            <a:solidFill>
              <a:srgbClr val="0F2A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1737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28800"/>
            <a:ext cx="17373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RESERVED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담당 ROLE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비회원·STAFF·ADMIN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전환 조건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온라인 예약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전화 예약 등록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87168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80360" y="1828800"/>
            <a:ext cx="1737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80360" y="182880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RECEIVED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담당 ROLE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7180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STAFF (접수처리)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STAFF (방문접수)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71800" y="2971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전환 조건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7180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→ RESERVED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→ RECEIVED 직행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7448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120640" y="1828800"/>
            <a:ext cx="1737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182880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담당 ROLE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DOCTOR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2971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전환 조건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1208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→ 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진료 기록 입력 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67728" y="26060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360920" y="1828800"/>
            <a:ext cx="17373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60920" y="1828800"/>
            <a:ext cx="1737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CANCELLED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2360" y="2267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담당 ROLE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5236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A42"/>
                </a:solidFill>
              </a:rPr>
              <a:t>ADMIN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52360" y="2971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전환 조건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52360" y="3172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→ RESERVED·RECEIVED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A42"/>
                </a:solidFill>
              </a:rPr>
              <a:t>취소 처리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965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⚠️  충돌 방지 원칙: 동일 상태 전이는 한 ROLE·한 Service에서만 처리  |  타 Role의 Service를 통한 상태 변경 절대 금지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ServiceLayer 규칙: ReceptionService → RECEIVED  ·  TreatmentService → COMPLETED  ·  AdminReservationService → CANCELLED  ·  WalkinService → RECEIVED 직행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병원 시스템 사용자별 스토리보드</dc:title>
  <dc:subject>PptxGenJS Presentation</dc:subject>
  <dc:creator>Hospital Dev Team</dc:creator>
  <cp:lastModifiedBy>Hospital Dev Team</cp:lastModifiedBy>
  <cp:revision>1</cp:revision>
  <dcterms:created xsi:type="dcterms:W3CDTF">2026-02-27T12:03:03Z</dcterms:created>
  <dcterms:modified xsi:type="dcterms:W3CDTF">2026-02-27T12:03:03Z</dcterms:modified>
</cp:coreProperties>
</file>