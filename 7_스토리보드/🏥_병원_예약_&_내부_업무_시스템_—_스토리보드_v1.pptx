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2" r:id="rId33"/>
    <p:sldId id="283" r:id="rId34"/>
    <p:sldId id="284" r:id="rId35"/>
    <p:sldId id="285" r:id="rId36"/>
    <p:sldId id="286" r:id="rId37"/>
    <p:sldId id="287" r:id="rId38"/>
    <p:sldId id="319" r:id="rId63"/>
    <p:sldId id="273" r:id="rId19"/>
    <p:sldId id="274" r:id="rId20"/>
    <p:sldId id="302" r:id="rId46"/>
    <p:sldId id="303" r:id="rId47"/>
    <p:sldId id="304" r:id="rId48"/>
    <p:sldId id="305" r:id="rId49"/>
    <p:sldId id="306" r:id="rId50"/>
    <p:sldId id="307" r:id="rId51"/>
    <p:sldId id="275" r:id="rId21"/>
    <p:sldId id="276" r:id="rId22"/>
    <p:sldId id="308" r:id="rId52"/>
    <p:sldId id="309" r:id="rId53"/>
    <p:sldId id="310" r:id="rId54"/>
    <p:sldId id="311" r:id="rId55"/>
    <p:sldId id="312" r:id="rId56"/>
    <p:sldId id="313" r:id="rId57"/>
    <p:sldId id="277" r:id="rId23"/>
    <p:sldId id="278" r:id="rId24"/>
    <p:sldId id="314" r:id="rId58"/>
    <p:sldId id="315" r:id="rId59"/>
    <p:sldId id="316" r:id="rId60"/>
    <p:sldId id="317" r:id="rId61"/>
    <p:sldId id="318" r:id="rId62"/>
    <p:sldId id="279" r:id="rId25"/>
    <p:sldId id="280" r:id="rId26"/>
    <p:sldId id="320" r:id="rId64"/>
    <p:sldId id="321" r:id="rId65"/>
    <p:sldId id="322" r:id="rId66"/>
    <p:sldId id="323" r:id="rId67"/>
    <p:sldId id="324" r:id="rId68"/>
    <p:sldId id="327" r:id="rId71"/>
    <p:sldId id="328" r:id="rId72"/>
    <p:sldId id="325" r:id="rId69"/>
    <p:sldId id="326" r:id="rId70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27.xml"/><Relationship Id="rId13" Type="http://schemas.openxmlformats.org/officeDocument/2006/relationships/slide" Target="slides/slide26.xml"/><Relationship Id="rId14" Type="http://schemas.openxmlformats.org/officeDocument/2006/relationships/slide" Target="slides/slide23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20.xml"/><Relationship Id="rId18" Type="http://schemas.openxmlformats.org/officeDocument/2006/relationships/slide" Target="slides/slide19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31.xml"/><Relationship Id="rId24" Type="http://schemas.openxmlformats.org/officeDocument/2006/relationships/slide" Target="slides/slide32.xml"/><Relationship Id="rId25" Type="http://schemas.openxmlformats.org/officeDocument/2006/relationships/slide" Target="slides/slide37.xml"/><Relationship Id="rId26" Type="http://schemas.openxmlformats.org/officeDocument/2006/relationships/slide" Target="slides/slide38.xml"/><Relationship Id="rId27" Type="http://schemas.openxmlformats.org/officeDocument/2006/relationships/slide" Target="slides/slide39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7" Type="http://schemas.openxmlformats.org/officeDocument/2006/relationships/slide" Target="slides/slide15.xml"/><Relationship Id="rId38" Type="http://schemas.openxmlformats.org/officeDocument/2006/relationships/slide" Target="slides/slide16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
<Relationship Id="rId64" Type="http://schemas.openxmlformats.org/officeDocument/2006/relationships/slide" Target="slides/slide58.xml"/>
<Relationship Id="rId65" Type="http://schemas.openxmlformats.org/officeDocument/2006/relationships/slide" Target="slides/slide59.xml"/>
<Relationship Id="rId66" Type="http://schemas.openxmlformats.org/officeDocument/2006/relationships/slide" Target="slides/slide60.xml"/>
<Relationship Id="rId67" Type="http://schemas.openxmlformats.org/officeDocument/2006/relationships/slide" Target="slides/slide61.xml"/>
<Relationship Id="rId68" Type="http://schemas.openxmlformats.org/officeDocument/2006/relationships/slide" Target="slides/slide62.xml"/>
<Relationship Id="rId69" Type="http://schemas.openxmlformats.org/officeDocument/2006/relationships/slide" Target="slides/slide63.xml"/>
<Relationship Id="rId70" Type="http://schemas.openxmlformats.org/officeDocument/2006/relationships/slide" Target="slides/slide64.xml"/>
<Relationship Id="rId71" Type="http://schemas.openxmlformats.org/officeDocument/2006/relationships/slide" Target="slides/slide65.xml"/>
<Relationship Id="rId72" Type="http://schemas.openxmlformats.org/officeDocument/2006/relationships/slide" Target="slides/slide66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🏥 병원 예약 &amp; 내부 업무 시스템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</a:rPr>
              <a:t>사용자별 화면 스토리보드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7863840" cy="36576"/>
          </a:xfrm>
          <a:prstGeom prst="rect">
            <a:avLst/>
          </a:prstGeom>
          <a:solidFill>
            <a:srgbClr val="1C5473"/>
          </a:solidFill>
          <a:ln w="12700">
            <a:solidFill>
              <a:srgbClr val="1C54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651760"/>
            <a:ext cx="132588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651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환자 (비로그인)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75688" y="2651760"/>
            <a:ext cx="132588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75688" y="2651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접수 직원 (STAFF)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11296" y="2651760"/>
            <a:ext cx="132588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11296" y="2651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의사 (DOCTOR)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46904" y="2651760"/>
            <a:ext cx="1325880" cy="34747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46904" y="2651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간호사 (NURSE)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382512" y="2651760"/>
            <a:ext cx="13258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82512" y="2651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물품 담당자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818120" y="2651760"/>
            <a:ext cx="13258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18120" y="2651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관리자 (ADMIN)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9B"/>
                </a:solidFill>
              </a:rPr>
              <a:t>화면 정의서 v1.4  ·  총 33개 화면  ·  6가지 사용자 역할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9B"/>
                </a:solidFill>
              </a:rPr>
              <a:t>Spring Boot  ·  Mustache SSR  ·  Spring Security  ·  Claude API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</a:rPr>
              <a:t>🏥 병원 예약 &amp; 내부 업무 시스템  |  사용자별 스토리보드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2"/>
                </a:solidFill>
              </a:rPr>
              <a:t>사용자 유형 &amp; 접근 권한 개요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6가지 역할 — 각자 고유한 화면 영역과 접근 권한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09344"/>
            <a:ext cx="1097280" cy="502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0"/>
            <a:ext cx="2606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28800"/>
            <a:ext cx="260604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828800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🏥  환자 (비로그인)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214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화면 00~04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34086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비회원 공개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5328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로그인 불필요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AI 추천 예약 / 직접 예약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27248" y="1828800"/>
            <a:ext cx="2606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27248" y="1828800"/>
            <a:ext cx="260604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828800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📋  접수 직원 (STAFF)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18688" y="21214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화면 06~10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18688" y="234086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ROLE_STAFF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18688" y="25328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접수 처리·전화예약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방문 접수 등록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34456" y="1828800"/>
            <a:ext cx="2606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34456" y="1828800"/>
            <a:ext cx="26060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07608" y="1828800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🩺  의사 (DOCTOR)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25896" y="21214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화면 11~13 + C1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25896" y="234086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ROLE_DOCTOR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25896" y="25328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진료 기록 입력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병원 규칙 Q&amp;A 챗봇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383280"/>
            <a:ext cx="2606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83280"/>
            <a:ext cx="2606040" cy="2560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3383280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💊  간호사 (NURSE)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367588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B2777"/>
                </a:solidFill>
              </a:rPr>
              <a:t>화면 14~16 + C1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389534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ROLE_NURSE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1480" y="40873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예약 현황·환자 관리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재고 모니터링·챗봇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27248" y="3383280"/>
            <a:ext cx="2606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27248" y="3383280"/>
            <a:ext cx="260604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3383280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📦  물품 담당자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18688" y="367588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화면 17·27~29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18688" y="389534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ROLE_ADMIN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18688" y="40873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물품 CRUD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재고 현황 관리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34456" y="3383280"/>
            <a:ext cx="2606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34456" y="3383280"/>
            <a:ext cx="260604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07608" y="3383280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🛡️  관리자 (ADMIN)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25896" y="367588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화면 17~32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25896" y="389534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ROLE_ADMIN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025896" y="40873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전체 시스템 관리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직원·규칙·진료과 CRUD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96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2286000" cy="228600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"/>
            <a:ext cx="2560320" cy="256032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74320"/>
            <a:ext cx="2834640" cy="283464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640080"/>
            <a:ext cx="3108960" cy="310896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1005840"/>
            <a:ext cx="3383280" cy="338328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🏥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645920" y="10972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환자 (비로그인)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4592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비회원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45920" y="2304288"/>
            <a:ext cx="36576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4871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목표: 증상에 맞는 진료과를 추천받거나 직접 선택해 예약 완료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200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화면 00  ·  화면 02  ·  화면 03  ·  화면 04  ·  화면 02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</a:rPr>
              <a:t>🏥 병원 예약 &amp; 내부 업무 시스템  |  사용자별 스토리보드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2"/>
                </a:solidFill>
              </a:rPr>
              <a:t>🏥 환자 (비로그인)  —  화면 여정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증상에 맞는 진료과를 추천받거나 직접 선택해 예약 완료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09344"/>
            <a:ext cx="1097280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737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주요 흐름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32688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1783080"/>
            <a:ext cx="1572768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00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96696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병원 메인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96696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사이트 접속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05456" y="2167128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2039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34640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34640" y="1783080"/>
            <a:ext cx="1572768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02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898648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증상 입력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98648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증상 텍스트 입력 (최대 1000자)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07408" y="2167128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039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36592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1783080"/>
            <a:ext cx="1572768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03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00600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직접 선택 예약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진료과·의사·날짜·시간 선택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309360" y="2167128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2039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38544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38544" y="1783080"/>
            <a:ext cx="1572768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38544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04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02552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예약 완료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02552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예약번호 확인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2670048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274320" y="27157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64748B"/>
                </a:solidFill>
              </a:rPr>
              <a:t>대체 / 추가 흐름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737360" y="2935224"/>
            <a:ext cx="21031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737360" y="2935224"/>
            <a:ext cx="210312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37360" y="29352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02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801368" y="3154680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증상 입력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801368" y="3438144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AI 추천 결과 확인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913632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913632"/>
            <a:ext cx="91440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" y="4023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84632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AI 증상 분석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4632" y="4681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증상 텍스트 → Claude API → 진료과·의사 자동 추천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108960" y="3913632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0" y="3913632"/>
            <a:ext cx="91440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73552" y="4023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3273552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직접 선택 예약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73552" y="4681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진료과·의사·날짜·시간 직접 선택 (AI 폴백)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97880" y="3913632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897880" y="3913632"/>
            <a:ext cx="91440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023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6062472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예약번호 발급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062472" y="4681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예약번호 발급 → 내원 시 창구 제시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환자 (비로그인)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화면 00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병원 메인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GET  /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</a:rPr>
              <a:t>home/index.mustache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L1  H1 헤더 / F1 푸터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4688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00984" y="1938528"/>
            <a:ext cx="786384" cy="1737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0984" y="1938528"/>
            <a:ext cx="786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직원 로그인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4617720"/>
            <a:ext cx="39319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17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○○병원  |  TEL 02-0000-0000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20040" y="23500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환자분을 위한 편리한 진료 예약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2587752"/>
            <a:ext cx="1837944" cy="859536"/>
          </a:xfrm>
          <a:prstGeom prst="rect">
            <a:avLst/>
          </a:prstGeom>
          <a:solidFill>
            <a:srgbClr val="F0FDF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4048" y="2642616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🤖 AI 증상 추천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4048" y="2834640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증상 입력 →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AI 진료과 추천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3209544"/>
            <a:ext cx="1709928" cy="1737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209544"/>
            <a:ext cx="1709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AI 추천 예약하기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31136" y="2587752"/>
            <a:ext cx="1837944" cy="859536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295144" y="2642616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📋 직접 예약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295144" y="2834640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진료과·의사를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직접 선택하여 예약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295144" y="3209544"/>
            <a:ext cx="1709928" cy="1737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95144" y="3209544"/>
            <a:ext cx="1709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직접 예약하기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3483864"/>
            <a:ext cx="3931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3538728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📅 평일 09~18  토 09~13  🚫 일·공휴일 휴진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01752" y="3739896"/>
            <a:ext cx="37856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진료과 안내 (is_active=TRUE 동적 렌더링)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01752" y="3913632"/>
            <a:ext cx="8229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" y="39136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내과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197864" y="3913632"/>
            <a:ext cx="8229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97864" y="39136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외과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093976" y="3913632"/>
            <a:ext cx="8229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93976" y="39136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피부과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990088" y="3913632"/>
            <a:ext cx="8229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90088" y="39136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정형외과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🔀  화면 진입 흐름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407408" y="1839773"/>
            <a:ext cx="198936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사이트 접속 (/)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407408" y="2054657"/>
            <a:ext cx="198936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</a:rPr>
              <a:t>  ▼ AI 추천 예약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400068" y="2054657"/>
            <a:ext cx="25577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/reservation/symptom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407408" y="2269541"/>
            <a:ext cx="198936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</a:rPr>
              <a:t>  ▼ 직접 예약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400068" y="2269541"/>
            <a:ext cx="25577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/reservation/direct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407408" y="2484425"/>
            <a:ext cx="198936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</a:rPr>
              <a:t>  ▼ 직원 로그인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400068" y="2484425"/>
            <a:ext cx="25577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/login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315968" y="274685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0" y="274685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315968" y="294071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70832" y="294071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645152" y="294071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진료과 배지 렌더링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870448" y="294071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DEPARTMENT is_active=TRUE SSR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370832" y="3171139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👆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645152" y="3171139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진료과 클릭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870448" y="3171139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해당 과 소속 활성 의사 목록 토글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315968" y="340156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70832" y="340156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📅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645152" y="340156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 시간 안내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870448" y="340156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정적 텍스트 (평일·토·점심·휴진)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370832" y="363199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645152" y="363199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직원 로그인 버튼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5870448" y="363199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헤더 우측 고정 — /login 이동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315968" y="390997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89120" y="390997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425696" y="4122115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pageTitle: String  ·  departments: List&lt;Department&gt; (is_active=TRUE)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환자 (비로그인)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화면 02-A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증상 입력 — 텍스트 입력 단계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GET  /reservation/symptom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</a:rPr>
              <a:t>reservation/symptom.mustache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L1  H1 헤더 / F1 푸터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4688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00984" y="1938528"/>
            <a:ext cx="786384" cy="1737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0984" y="1938528"/>
            <a:ext cx="786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직원 로그인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4617720"/>
            <a:ext cx="39319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17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○○병원  |  TEL 02-0000-0000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20040" y="2313432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A42"/>
                </a:solidFill>
              </a:rPr>
              <a:t>🤖 AI 증상 추천 예약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증상을 자세히 입력할수록 더 정확한 진료과를 추천해드립니다.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20040" y="2816352"/>
            <a:ext cx="3749040" cy="768096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" y="2889504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예) 3일 전부터 오른쪽 아랫배가 아프고 미열이 지속됩니다.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20040" y="3410712"/>
            <a:ext cx="3730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 / 1000자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74904" y="3657600"/>
            <a:ext cx="3639312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" y="3657600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 추천 받기  ⟳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0040" y="3922776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또는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74904" y="4096512"/>
            <a:ext cx="3639312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" y="4096512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직접 선택하기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8328" y="434340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뒤로가기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⚙️  주요 기능 및 로직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✍️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증상 텍스트 입력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textarea 최대 1000자, 실시간 글자 수 카운터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⟳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로딩 인디케이터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버튼 클릭 시 spinner 표시, 중복 클릭 방지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🔀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직접 선택하기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/reservation/direct 이동 (추천값 없음)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⬅️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뒤로가기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/reservation (예약 방식 선택) 이동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315968" y="2827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0" y="2827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791456" y="3039466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28032" y="303946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/llm/symptom/analyze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425696" y="3231490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요청: { symptomText: String (1 ~ 1000자) }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315968" y="3480206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89120" y="348020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🛡️  폴백 처리 — LLM 실패 시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315968" y="3674059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07408" y="3674059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LLM_SERVICE_UNAVAILABLE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300216" y="3674059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오류 toast 후 3초 뒤 /reservation/direct 자동 이동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315968" y="3882542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07408" y="3882542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LLM_PARSE_ERROR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300216" y="3882542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동일 처리 — /reservation/direct 이동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315968" y="4091026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07408" y="4091026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타임아웃 5초 초과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300216" y="4091026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폴백 즉시 실행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315968" y="434705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89120" y="434705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425696" y="4559198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pageTitle: 'AI 증상 추천 예약'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환자 (비로그인)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화면 02-B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증상 입력 — AI 추천 결과 확인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GET  /reservation/symptom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</a:rPr>
              <a:t>reservation/symptom.mustache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L1  H1 헤더 / F1 푸터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4688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00984" y="1938528"/>
            <a:ext cx="786384" cy="1737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0984" y="1938528"/>
            <a:ext cx="786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직원 로그인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4617720"/>
            <a:ext cx="39319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17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○○병원  |  TEL 02-0000-0000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20040" y="2295144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A42"/>
                </a:solidFill>
              </a:rPr>
              <a:t>🤖 AI 추천 결과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532888"/>
            <a:ext cx="3749040" cy="786384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25877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추천 진료과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399032" y="25877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외과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28254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추천 의사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399032" y="28254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김철수 전문의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30632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추천 시간대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399032" y="30632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오전 (09:00~12:00)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0040" y="3392424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AI 소견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20040" y="35753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복통 및 미열 증상으로 외과 진료가 적합합니다.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0040" y="3794760"/>
            <a:ext cx="3749040" cy="45720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" y="3831336"/>
            <a:ext cx="36393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⚠️ 면책 고지 (필수 표시)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56616" y="3995928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400E"/>
                </a:solidFill>
              </a:rPr>
              <a:t>본 결과는 AI 참고 안내이며, 의학적 진단이 아닙니다.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2400E"/>
                </a:solidFill>
              </a:rPr>
              <a:t>최종 판단은 반드시 의사에게 받으세요.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20040" y="4325112"/>
            <a:ext cx="1828800" cy="2103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3251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이 추천으로 예약하기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240280" y="4325112"/>
            <a:ext cx="182880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40280" y="43251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다시 입력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⚙️  결과 화면 기능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추천 결과 렌더링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SymptomResponse → 진료과·의사·시간대·소견 표시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면책 고지 표시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disclaimer 항상 표시 (생략 절대 불가)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 추천으로 예약하기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추천값 쿼리파라미터로 /reservation/direct 이동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🔄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다시 입력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결과 영역 숨기고 입력 폼으로 복귀 (JS)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315968" y="2827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89120" y="2827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🔗  이동 시 쿼리파라미터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389120" y="3039466"/>
            <a:ext cx="4590288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43984" y="307604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</a:rPr>
              <a:t>/reservation/direct?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</a:rPr>
              <a:t>  recommendationId={id}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</a:rPr>
              <a:t>  &amp;recommendedDept=외과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</a:rPr>
              <a:t>  &amp;recommendedDoctor=김철수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315968" y="3580790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389120" y="3580790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📦  SymptomResponse DTO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389120" y="3792931"/>
            <a:ext cx="4590288" cy="117043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43984" y="3829507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recommendedDept: String    // 추천 진료과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recommendedDoctor: String   // 추천 의사명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recommendedTime: String    // 추천 시간대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advice: String             // AI 소견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disclaimer: String         // 면책 고지 (필수)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errorCode: String | null   // 실패 시 코드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환자 (비로그인)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화면 03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직접 선택 예약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GET  /reservation/direct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</a:rPr>
              <a:t>reservation/direct.mustache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L1  H1 헤더 / F1 푸터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4688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00984" y="1938528"/>
            <a:ext cx="786384" cy="1737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0984" y="1938528"/>
            <a:ext cx="786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직원 로그인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4617720"/>
            <a:ext cx="39319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17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○○병원  |  TEL 02-0000-0000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20040" y="2276856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📋 예약하기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2487168"/>
            <a:ext cx="3749040" cy="173736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487168"/>
            <a:ext cx="3675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9669"/>
                </a:solidFill>
              </a:rPr>
              <a:t>💡 AI 추천: 외과 / 오전 시간대  (경유 시만 표시)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20040" y="2688336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환자 정보 ──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20040" y="2843784"/>
            <a:ext cx="621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이름 *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60120" y="2843784"/>
            <a:ext cx="3072384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6696" y="2843784"/>
            <a:ext cx="29992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홍길동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0040" y="3044952"/>
            <a:ext cx="621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연락처 *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60120" y="3044952"/>
            <a:ext cx="3072384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6696" y="3044952"/>
            <a:ext cx="29992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010-XXXX-XXXX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20040" y="3246120"/>
            <a:ext cx="621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이메일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60120" y="3246120"/>
            <a:ext cx="3072384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6696" y="3246120"/>
            <a:ext cx="29992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(선택)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20040" y="3447288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진료 정보 ──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20040" y="360273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진료과 *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960120" y="3602736"/>
            <a:ext cx="3072384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6696" y="3602736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외과 ▼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20040" y="379476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의사 *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60120" y="3794760"/>
            <a:ext cx="3072384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6696" y="37947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김철수 ▼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20040" y="398678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날짜 *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960120" y="3986784"/>
            <a:ext cx="3072384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96696" y="3986784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2026-03-15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20040" y="417880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시간 *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60120" y="4178808"/>
            <a:ext cx="3072384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96696" y="4178808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09:00 ▼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74904" y="4370832"/>
            <a:ext cx="3639312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4904" y="437083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예약하기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⚙️  주요 기능 및 로직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🔀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진료과 목록 SSR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is_active=TRUE 진료과 서버 렌더링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🔄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의사 목록 동적 조회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진료과 선택 → GET /getDoctors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🕐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시간 슬롯 동적 조회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의사+날짜 선택 → GET /getSlots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💡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AI 추천값 자동 입력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쿼리파라미터 수신 → 폼 자동 채움 + 배너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✔️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폼 유효성 검증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필수 6항목 미입력 시 제출 차단, 인라인 오류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</a:rPr>
              <a:t>GET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791456" y="32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828032" y="32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/reservation/getDoctors?deptId={id}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389120" y="3461918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89120" y="346191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</a:rPr>
              <a:t>GET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4791456" y="3461918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28032" y="346191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/reservation/getSlots?doctorId={id}&amp;date={date}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4389120" y="3653942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389120" y="365394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791456" y="3653942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28032" y="365394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/reservation/create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315968" y="389351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389120" y="389351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🚨  오류 처리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315968" y="4087368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407408" y="4087368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DUPLICATE_RESERVATION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6300216" y="4087368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해당 필드 강조 + 오류 메시지 표시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315968" y="4295851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407408" y="4295851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DOCTOR_NOT_AVAILABLE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6300216" y="4295851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슬롯 빈 목록 + 안내 메시지 표시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4315968" y="4551883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89120" y="4551883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4425696" y="4764024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pageTitle · departments · (AI) recommendedDept / Doctor / Time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환자 (비로그인)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화면 04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예약 완료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GET  /reservation/complete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</a:rPr>
              <a:t>reservation/complete.mustache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L1  H1 헤더 / F1 푸터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4688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00984" y="1938528"/>
            <a:ext cx="786384" cy="1737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0984" y="1938528"/>
            <a:ext cx="786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직원 로그인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4617720"/>
            <a:ext cx="39319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17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○○병원  |  TEL 02-0000-0000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1938528" y="2221992"/>
            <a:ext cx="512064" cy="512064"/>
          </a:xfrm>
          <a:prstGeom prst="OVAL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38528" y="2221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20040" y="27706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예약이 완료되었습니다.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3008376"/>
            <a:ext cx="3749040" cy="1133856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008376"/>
            <a:ext cx="3749040" cy="219456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" y="300837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예약번호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06424" y="3008376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RES-20260315-001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227832"/>
            <a:ext cx="3749040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" y="322783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환자명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06424" y="3227832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홍길동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74904" y="341071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진료과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06424" y="3410712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외과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0040" y="3593592"/>
            <a:ext cx="3749040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904" y="35935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담당 의사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06424" y="3593592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김철수 전문의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74904" y="37764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예약 날짜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06424" y="3776472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2026년 3월 15일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0040" y="3959352"/>
            <a:ext cx="3749040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" y="395935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예약 시간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106424" y="3959352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오전 09:00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20040" y="4197096"/>
            <a:ext cx="3749040" cy="21945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6616" y="419709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400E"/>
                </a:solidFill>
              </a:rPr>
              <a:t>📌 예약번호를 메모해두시면 내원 접수 시 안내에 도움이 됩니다.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74904" y="4453128"/>
            <a:ext cx="3639312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4904" y="445312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처음으로 돌아가기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예약 정보 SSR 렌더링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Query Param reservationNumber → DB 조회 → SSR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🔢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예약번호 강조 표시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굵게·컬러 처리, 복사 유도 UX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📌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안내 메시지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예약번호 메모 유도 고정 문구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🏠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처음으로 돌아가기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 (비회원 메인) 이동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315968" y="2827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89120" y="2827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🚨  예외 처리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315968" y="3021178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07408" y="3021178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reservationNumber 없음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300216" y="3021178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/reservation 리다이렉트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315968" y="3229661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07408" y="3229661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존재하지 않는 예약번호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300216" y="3229661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/reservation 리다이렉트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315968" y="3485693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89120" y="3485693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389120" y="3697834"/>
            <a:ext cx="4590288" cy="91440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443984" y="3734410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pageTitle: '예약 완료'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reservationNumber: String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patientName: String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deptName: String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doctorName: String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reservationDate: String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timeSlot: String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315968" y="465978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89120" y="465978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🔗  URL 패턴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4425696" y="4871923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</a:rPr>
              <a:t>/reservation/complete?reservationNumber=RES-20260315-001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2286000" cy="228600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"/>
            <a:ext cx="2560320" cy="256032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74320"/>
            <a:ext cx="2834640" cy="283464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640080"/>
            <a:ext cx="3108960" cy="310896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1005840"/>
            <a:ext cx="3383280" cy="338328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📋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645920" y="10972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접수 직원 (STAFF)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4592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ROLE_STAFF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45920" y="2304288"/>
            <a:ext cx="36576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4871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목표: 전화·방문 환자 예약 등록 및 당일 예약 접수 처리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200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화면 05  ·  화면 06  ·  화면 07  ·  화면 08  ·  화면 09  ·  화면 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접수 직원 (STAFF)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CD34D"/>
                </a:solidFill>
              </a:rPr>
              <a:t>화면 05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로그인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D34D"/>
                </a:solidFill>
              </a:rPr>
              <a:t>GET  /login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</a:rPr>
              <a:t>auth/login.mustache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9169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 내부 시스템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" y="2267712"/>
            <a:ext cx="3236976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" y="2395728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직원 로그인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" y="2670048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아이디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52728" y="2670048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9304" y="2670048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hong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7512" y="292608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비밀번호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52728" y="2926080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9304" y="2926080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••••••••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로그인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" y="3547872"/>
            <a:ext cx="3090672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354787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⚠️ 아이디 또는 비밀번호가 올바르지 않습니다. ← ?error 시만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01752" y="400507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🔒 내부 직원 전용 시스템입니다.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⚙️  기능 정의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로그인 처리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POST /login (Spring Security FormLogin 자동 처리)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🔀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ROLE별 리다이렉트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STAFF → /staff/dashboard · DOCTOR → /doctor/dashboard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실패 메시지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?error 파라미터 → 오류 문구 표시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로그아웃 완료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?logout 파라미터 → 완료 문구 표시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🛡️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이미 로그인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ROLE별 대시보드로 즉시 리다이렉트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791456" y="32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28032" y="32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/login  (Spring Security FormLogin)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315968" y="3509467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0" y="3509467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🏗️  레이아웃 — L3 로그인 전용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315968" y="372160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70832" y="372160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H3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645152" y="372160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로그인 전용 헤더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870448" y="372160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병원 이름만 중앙 표시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370832" y="395203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—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645152" y="395203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사이드바 없음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870448" y="395203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S0 미적용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315968" y="418246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70832" y="418246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—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45152" y="418246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푸터 없음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70448" y="418246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미니멀 레이아웃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315968" y="4460443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89120" y="4460443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389120" y="4672584"/>
            <a:ext cx="4590288" cy="20116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43984" y="4709160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error: Boolean · logoutMsg: Boolean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접수 직원 (STAFF)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CD34D"/>
                </a:solidFill>
              </a:rPr>
              <a:t>화면 06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STAFF 대시보드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D34D"/>
                </a:solidFill>
              </a:rPr>
              <a:t>GET  /staff/dashboard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</a:rPr>
              <a:t>staff/dashboard.mustache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대시보드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홍담당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2157984"/>
            <a:ext cx="82296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접수 목록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📞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전화 예약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🚶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방문 접수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내 정보관리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24712" y="2194560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2A42"/>
                </a:solidFill>
              </a:rPr>
              <a:t>📅 2026년 3월 15일 (월)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088136" y="2386584"/>
            <a:ext cx="969264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0F2A4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88136" y="2423160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오늘 총 예약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088136" y="256946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2"/>
                </a:solidFill>
              </a:rPr>
              <a:t>18건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121408" y="2386584"/>
            <a:ext cx="969264" cy="457200"/>
          </a:xfrm>
          <a:prstGeom prst="rect">
            <a:avLst/>
          </a:prstGeom>
          <a:solidFill>
            <a:srgbClr val="FED7AA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121408" y="2423160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A580C"/>
                </a:solidFill>
              </a:rPr>
              <a:t>접수 대기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2121408" y="256946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12건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154680" y="2386584"/>
            <a:ext cx="969264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154680" y="2423160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접수 완료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3154680" y="256946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6건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124712" y="2889504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빠른 메뉴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124712" y="3054096"/>
            <a:ext cx="142646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24712" y="30540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A580C"/>
                </a:solidFill>
              </a:rPr>
              <a:t>📋 접수 목록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660904" y="3054096"/>
            <a:ext cx="142646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60904" y="30540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A580C"/>
                </a:solidFill>
              </a:rPr>
              <a:t>📞 전화 예약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124712" y="3310128"/>
            <a:ext cx="142646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24712" y="331012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A580C"/>
                </a:solidFill>
              </a:rPr>
              <a:t>🚶 방문 접수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124712" y="3584448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미접수 미리보기 (RESERVED 상위 5건)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51560" y="3739896"/>
            <a:ext cx="3108960" cy="1645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51560" y="373989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시간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1325880" y="37398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환자명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1783080" y="373989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2203704" y="37398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의사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660904" y="373989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처리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1051560" y="3904488"/>
            <a:ext cx="31089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51560" y="39044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09:00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325880" y="3904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홍길동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1783080" y="390448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외과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2203704" y="3904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김철수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697480" y="3941064"/>
            <a:ext cx="658368" cy="128016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97480" y="394106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A580C"/>
                </a:solidFill>
              </a:rPr>
              <a:t>접수 처리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1051560" y="4105656"/>
            <a:ext cx="310896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51560" y="41056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09:30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1325880" y="41056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이영희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1783080" y="410565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내과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2203704" y="41056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이영수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2697480" y="4142232"/>
            <a:ext cx="658368" cy="128016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697480" y="414223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A580C"/>
                </a:solidFill>
              </a:rPr>
              <a:t>접수 처리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1051560" y="4306824"/>
            <a:ext cx="31089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51560" y="430682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10:00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1325880" y="43068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박민준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1783080" y="430682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피부과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203704" y="43068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최지은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2697480" y="4343400"/>
            <a:ext cx="658368" cy="128016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697480" y="4343400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A580C"/>
                </a:solidFill>
              </a:rPr>
              <a:t>접수 처리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1088136" y="4544568"/>
            <a:ext cx="3035808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88136" y="4544568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</a:rPr>
              <a:t>▶ 접수 목록 전체 보기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통계 카드 3종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총예약·접수대기(RESERVED)·접수완료(RECEIVED) 건수 SSR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접수 목록 이동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/staff/reception/list 이동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📞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전화 예약 등록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/staff/reservation/new 이동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🚶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방문 접수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/staff/walkin/new 이동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미접수 미리보기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당일 RESERVED 시간 순 상위 5건 SSR 표시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접수 처리 버튼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/staff/reception/detail?reservationId={id}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4315968" y="328818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389120" y="328818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🏗️  레이아웃 — L2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4315968" y="350032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370832" y="350032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H2</a:t>
            </a:r>
            <a:endParaRPr lang="en-US" sz="1100" dirty="0"/>
          </a:p>
        </p:txBody>
      </p:sp>
      <p:sp>
        <p:nvSpPr>
          <p:cNvPr id="113" name="Text 111"/>
          <p:cNvSpPr/>
          <p:nvPr/>
        </p:nvSpPr>
        <p:spPr>
          <a:xfrm>
            <a:off x="4645152" y="350032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내부 직원 헤더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5870448" y="350032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로고·메뉴명·로그인명(STAFF)·[로그아웃]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4370832" y="373075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S1</a:t>
            </a:r>
            <a:endParaRPr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4645152" y="373075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STAFF 사이드 메뉴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5870448" y="373075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대시보드(강조)·접수목록·전화예약·방문접수·내 정보관리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4315968" y="396118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370832" y="396118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F2</a:t>
            </a:r>
            <a:endParaRPr lang="en-US" sz="1100" dirty="0"/>
          </a:p>
        </p:txBody>
      </p:sp>
      <p:sp>
        <p:nvSpPr>
          <p:cNvPr id="120" name="Text 118"/>
          <p:cNvSpPr/>
          <p:nvPr/>
        </p:nvSpPr>
        <p:spPr>
          <a:xfrm>
            <a:off x="4645152" y="396118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내부 직원 푸터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5870448" y="396118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저작권 표시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4315968" y="423915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389120" y="423915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4389120" y="4451299"/>
            <a:ext cx="4590288" cy="32918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443984" y="4487875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todayTotal · reservedCount · receivedCount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recentReservations: List&lt;Reservation&gt;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접수 직원 (STAFF)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CD34D"/>
                </a:solidFill>
              </a:rPr>
              <a:t>화면 07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접수 목록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D34D"/>
                </a:solidFill>
              </a:rPr>
              <a:t>GET  /staff/reception/list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</a:rPr>
              <a:t>staff/reception-list.mustache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접수 목록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홍담당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228600" y="2615184"/>
            <a:ext cx="82296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접수 목록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📞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전화 예약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🚶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방문 접수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내 정보관리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24712" y="2194560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2A42"/>
                </a:solidFill>
              </a:rPr>
              <a:t>📋 오늘 예약 접수 목록  📅 2026-03-15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088136" y="2377440"/>
            <a:ext cx="3035808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24712" y="24323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상태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399032" y="2432304"/>
            <a:ext cx="512064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17320" y="24323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전체 ▼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965960" y="243230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진료과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295144" y="2432304"/>
            <a:ext cx="512064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13432" y="24323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전체 ▼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862072" y="2432304"/>
            <a:ext cx="76809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80360" y="243230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환자명 검색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666744" y="2432304"/>
            <a:ext cx="34747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66744" y="24323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검색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124712" y="2761488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총 18건 중 12건 표시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051560" y="2916936"/>
            <a:ext cx="3108960" cy="17373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51560" y="2916936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시간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1307592" y="2916936"/>
            <a:ext cx="4023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환자명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1709928" y="2916936"/>
            <a:ext cx="4023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2112264" y="2916936"/>
            <a:ext cx="4023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의사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2514600" y="2916936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상태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1051560" y="3090672"/>
            <a:ext cx="310896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51560" y="309067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09:00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307592" y="30906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홍길동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709928" y="30906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외과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2112264" y="30906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김철수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2551176" y="3136392"/>
            <a:ext cx="731520" cy="1371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51176" y="313639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A580C"/>
                </a:solidFill>
              </a:rPr>
              <a:t>RESERVED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1051560" y="3319272"/>
            <a:ext cx="310896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51560" y="331927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09:30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1307592" y="33192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이영희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709928" y="33192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내과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2112264" y="33192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이영수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2551176" y="3364992"/>
            <a:ext cx="731520" cy="13716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51176" y="336499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59669"/>
                </a:solidFill>
              </a:rPr>
              <a:t>RECEIVED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1051560" y="3547872"/>
            <a:ext cx="310896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51560" y="354787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10:00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307592" y="35478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박민준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709928" y="35478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피부과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2112264" y="35478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최지은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2551176" y="3593592"/>
            <a:ext cx="731520" cy="13716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551176" y="359359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D4ED8"/>
                </a:solidFill>
              </a:rPr>
              <a:t>COMPLETED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1051560" y="381304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[이전]  1 / 1  [다음]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당일 목록 SSR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오늘 날짜 기준 전체 예약, 시간 순 정렬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상태 필터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RESERVED·RECEIVED·COMPLETED·CANCELLED·전체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🏥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진료과 필터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활성 진료과 드롭다운 → ?departmentId=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🔎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환자명 검색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부분 일치 검색 → ?keyword=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📄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페이징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20건/페이지, ?page=0 (0-based)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접수 처리 버튼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RESERVED 상태에만 표시 → /reception/detail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4315968" y="328818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389120" y="328818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4389120" y="3500323"/>
            <a:ext cx="4590288" cy="42062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443984" y="3536899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receptions: Page&lt;Reservation&gt;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  ↳ {time, patient, department, doctor, status}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queryParams: {status?, departmentId?, keyword?, page}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접수 직원 (STAFF)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CD34D"/>
                </a:solidFill>
              </a:rPr>
              <a:t>화면 08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접수 처리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D34D"/>
                </a:solidFill>
              </a:rPr>
              <a:t>GET  /staff/reception/detail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</a:rPr>
              <a:t>staff/reception-detail.mustache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접수 처리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홍담당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228600" y="2615184"/>
            <a:ext cx="82296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접수 목록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📞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전화 예약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🚶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방문 접수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내 정보관리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088136" y="2194560"/>
            <a:ext cx="3035808" cy="402336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3000" y="2212848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A580C"/>
                </a:solidFill>
              </a:rPr>
              <a:t>── 예약 정보 (읽기 전용) ──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143000" y="2359152"/>
            <a:ext cx="2926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예약번호  RES-20260315-001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143000" y="2395728"/>
            <a:ext cx="2926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예약 시간  09:00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143000" y="2432304"/>
            <a:ext cx="2926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진료과  외과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143000" y="2468880"/>
            <a:ext cx="2926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담당 의사  김철수 전문의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143000" y="2505456"/>
            <a:ext cx="2926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A580C"/>
                </a:solidFill>
              </a:rPr>
              <a:t>예약 상태  🟡 RESERVED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143000" y="263347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환자 정보 확인 및 추가 입력 ──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088136" y="2779776"/>
            <a:ext cx="303580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43000" y="277977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이름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691640" y="27797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홍길동 (수정 불가)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088136" y="2999232"/>
            <a:ext cx="3035808" cy="21945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43000" y="29992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연락처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691640" y="29992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010-1234-5678 (수정 불가)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088136" y="3218688"/>
            <a:ext cx="303580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43000" y="32186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주소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691640" y="3255264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28216" y="3255264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88136" y="3438144"/>
            <a:ext cx="3035808" cy="21945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43000" y="343814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특이사항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691640" y="3474720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28216" y="3474720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예: 고혈압 약 복용 중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124712" y="3712464"/>
            <a:ext cx="1426464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24712" y="371246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접수 완료 처리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587752" y="3712464"/>
            <a:ext cx="142646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87752" y="371246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124712" y="39684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목록으로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예약 정보 표시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예약번호·시간·진료과·의사·상태 (읽기 전용) SSR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환자 기본 정보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이름·연락처·이메일 (읽기 전용) SSR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✏️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주소·특이사항 입력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선택 입력, 미입력 시 기존값 유지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접수 완료 처리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RESERVED → RECEIVED + 환자 정보 업데이트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🚫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이미 처리된 예약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RESERVED 아닌 경우 처리 버튼 비활성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4791456" y="32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828032" y="32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/staff/reception/receive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4425696" y="3461918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요청: { reservationId, address?, note? }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315968" y="371063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89120" y="371063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🚨  오류 처리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315968" y="3904488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407408" y="3904488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RESERVED 아닌 예약 접근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6300216" y="3904488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상태 표시, 처리 버튼 비활성화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15968" y="4112971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07408" y="4112971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존재하지 않는 reservationId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6300216" y="4112971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/staff/reception/list 리다이렉트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4315968" y="4369003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389120" y="4369003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4389120" y="4581144"/>
            <a:ext cx="4590288" cy="32918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443984" y="4617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reservation: Reservation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patient: Patient · isProcessable: Boolean  // RESERVED 여부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접수 직원 (STAFF)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CD34D"/>
                </a:solidFill>
              </a:rPr>
              <a:t>화면 09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전화 예약 등록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D34D"/>
                </a:solidFill>
              </a:rPr>
              <a:t>GET  /staff/reservation/new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</a:rPr>
              <a:t>staff/reservation-new.mustache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전화 예약 등록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홍담당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접수 목록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28600" y="3072384"/>
            <a:ext cx="82296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📞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전화 예약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🚶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방문 접수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내 정보관리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24712" y="2194560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환자 정보 ──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088136" y="2350008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" y="235000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이름 *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691640" y="2377440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28216" y="2377440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088136" y="2551176"/>
            <a:ext cx="303580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2551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연락처 *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691640" y="2578608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28216" y="2578608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088136" y="2752344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43000" y="275234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이메일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691640" y="2779776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28216" y="277977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(선택)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124712" y="2990088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진료 정보 ──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088136" y="3145536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43000" y="314553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진료과 *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691640" y="3172968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28216" y="3172968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외과 ▼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088136" y="3346704"/>
            <a:ext cx="303580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43000" y="334670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의사 *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691640" y="3374136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28216" y="337413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김철수 ▼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088136" y="3547872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43000" y="354787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날짜 *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691640" y="3575304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28216" y="3575304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2026-03-16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088136" y="3749040"/>
            <a:ext cx="303580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43000" y="374904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시간 *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691640" y="3776472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28216" y="377647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14:00 ▼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088136" y="3986784"/>
            <a:ext cx="3035808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43000" y="40233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A580C"/>
                </a:solidFill>
              </a:rPr>
              <a:t>ℹ️ 전화 예약은 RESERVED 상태로 등록됩니다.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580C"/>
                </a:solidFill>
              </a:rPr>
              <a:t>방문 후 창구 접수(화면 08)가 필요합니다.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1124712" y="4297680"/>
            <a:ext cx="1426464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124712" y="429768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예약 등록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587752" y="4297680"/>
            <a:ext cx="1426464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587752" y="429768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124712" y="453542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대시보드로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직원 대리 예약 생성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전화 접수 환자 대신 예약, 최초 상태 RESERVED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🏥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의사 목록 동적 조회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진료과 선택 → GET /reservation/getDoctors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⏰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슬롯 동적 조회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의사 + 날짜 선택 → GET /reservation/getSlots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폼 유효성 검증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필수 항목 미입력 시 제출 차단, 인라인 오류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315968" y="2827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389120" y="2827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791456" y="3039466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828032" y="303946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/reservation/getDoctors?deptId={id}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89120" y="3231490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389120" y="323149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4791456" y="3231490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828032" y="323149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/reservation/getSlots?doctorId={id}&amp;date={date}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4389120" y="342351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389120" y="342351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4791456" y="342351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828032" y="342351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/staff/reservation/create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4315968" y="3663086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389120" y="366308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🚨  오류 처리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4315968" y="3856939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407408" y="3856939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DUPLICATE_RESERVATION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6300216" y="3856939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오류 메시지 인라인 표시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4315968" y="4065422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407408" y="4065422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등록 성공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6300216" y="4065422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→ /staff/reception/list 이동 + 완료 toast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4315968" y="43214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389120" y="43214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4389120" y="4533595"/>
            <a:ext cx="4590288" cy="21945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443984" y="4570171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departments: List&lt;Department&gt;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접수 직원 (STAFF)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CD34D"/>
                </a:solidFill>
              </a:rPr>
              <a:t>화면 10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방문 접수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D34D"/>
                </a:solidFill>
              </a:rPr>
              <a:t>GET  /staff/walkin/new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</a:rPr>
              <a:t>staff/walkin-new.mustache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방문 접수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홍담당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접수 목록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📞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전화 예약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228600" y="3529584"/>
            <a:ext cx="82296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🚶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방문 접수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내 정보관리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088136" y="2194560"/>
            <a:ext cx="3035808" cy="292608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3000" y="22494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A580C"/>
                </a:solidFill>
              </a:rPr>
              <a:t>ℹ️ 방문 접수는 당일 즉시 RECEIVED 처리됩니다.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24712" y="2523744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환자 정보 입력 ──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088136" y="2679192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43000" y="267919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이름 *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691640" y="2706624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88136" y="2880360"/>
            <a:ext cx="303580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43000" y="288036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연락처 *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691640" y="2907792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88136" y="3081528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43000" y="30815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이메일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691640" y="3108960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24712" y="3319272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진료 정보 ──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088136" y="3474720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43000" y="347472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진료과 *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691640" y="3502152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28216" y="350215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외과 ▼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088136" y="3675888"/>
            <a:ext cx="303580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43000" y="367588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의사 *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691640" y="3703320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28216" y="3703320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김철수 ▼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1088136" y="3877056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43000" y="387705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시간 *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691640" y="3904488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728216" y="3904488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09:30 ▼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124712" y="4133088"/>
            <a:ext cx="1426464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24712" y="4133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방문 접수 완료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587752" y="4133088"/>
            <a:ext cx="1426464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87752" y="4133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124712" y="4370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대시보드로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🚶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당일 즉시 RECEIVED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방문 접수 = 예약+접수 동시 처리, 별도 접수 불필요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🏥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의사 목록 동적 조회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진료과 선택 → GET /reservation/getDoctors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⏰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당일 슬롯 조회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의사 선택 → 오늘 날짜 고정, 빈 슬롯만 표시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폼 유효성 검증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필수 항목 미입력 시 제출 차단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315968" y="2827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89120" y="2827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791456" y="3039466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828032" y="303946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/reservation/getDoctors?deptId={id}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4389120" y="3231490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389120" y="323149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791456" y="3231490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28032" y="323149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/reservation/getSlots?doctorId={id}&amp;date={today}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4389120" y="342351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89120" y="342351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4791456" y="342351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828032" y="342351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/staff/walkin/create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4315968" y="3663086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389120" y="366308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4389120" y="3875227"/>
            <a:ext cx="4590288" cy="21945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443984" y="3911803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departments: List&lt;Department&gt;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2286000" cy="228600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"/>
            <a:ext cx="2560320" cy="256032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74320"/>
            <a:ext cx="2834640" cy="283464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640080"/>
            <a:ext cx="3108960" cy="310896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1005840"/>
            <a:ext cx="3383280" cy="338328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🩺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645920" y="10972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의사 (DOCTOR)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4592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ROLE_DOCTOR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45920" y="2304288"/>
            <a:ext cx="36576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4871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목표: 오늘 담당 환자 진료하고 진료 기록을 입력, 병원 규칙 챗봇 활용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200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화면 05  ·  화면 11  ·  화면 12  ·  화면 13  ·  화면 C1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</a:rPr>
              <a:t>🏥 병원 예약 &amp; 내부 업무 시스템  |  사용자별 스토리보드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2"/>
                </a:solidFill>
              </a:rPr>
              <a:t>🩺 의사 (DOCTOR)  —  화면 여정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오늘 담당 환자 진료하고 진료 기록을 입력, 병원 규칙 챗봇 활용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09344"/>
            <a:ext cx="109728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737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주요 흐름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32688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1783080"/>
            <a:ext cx="15727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05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96696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로그인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96696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DOCTOR 계정 로그인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05456" y="2167128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2039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34640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34640" y="1783080"/>
            <a:ext cx="15727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11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898648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DOCTOR 대시보드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98648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오늘 진료 현황 파악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07408" y="2167128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039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36592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1783080"/>
            <a:ext cx="15727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12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00600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진료 목록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RECEIVED 환자 목록 조회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309360" y="2167128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2039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38544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38544" y="1783080"/>
            <a:ext cx="15727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38544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13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02552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진료 기록 입력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02552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진료 소견·처방 입력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2670048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274320" y="27157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64748B"/>
                </a:solidFill>
              </a:rPr>
              <a:t>대체 / 추가 흐름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737360" y="2935224"/>
            <a:ext cx="21031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737360" y="2935224"/>
            <a:ext cx="210312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37360" y="29352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C1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801368" y="3154680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챗봇 (오버레이)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801368" y="3438144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병원 규칙 질의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913632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913632"/>
            <a:ext cx="91440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" y="4023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84632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진료 목록 조회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4632" y="4681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담당 환자만 표시, 특이사항·시간 순 정렬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108960" y="3913632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0" y="3913632"/>
            <a:ext cx="91440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73552" y="4023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3273552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진료 기록 입력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73552" y="4681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소견 2000자 입력 → COMPLETED 전환 (단일 트랜잭션)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97880" y="3913632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897880" y="3913632"/>
            <a:ext cx="91440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023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6062472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병원 규칙 챗봇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062472" y="4681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진료 중 언제든 챗봇 오버레이로 규칙 조회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의사 (DOCTOR)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0A5FA"/>
                </a:solidFill>
              </a:rPr>
              <a:t>화면 05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로그인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GET  /login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</a:rPr>
              <a:t>auth/login.mustache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S2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9169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 내부 시스템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" y="2267712"/>
            <a:ext cx="3236976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" y="2395728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직원 로그인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" y="2670048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아이디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52728" y="2670048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9304" y="2670048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kimcs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7512" y="292608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비밀번호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52728" y="2926080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9304" y="2926080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••••••••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로그인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" y="3547872"/>
            <a:ext cx="3090672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354787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⚠️ 아이디 또는 비밀번호가 올바르지 않습니다. ← ?error 시만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01752" y="400507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🔒 내부 직원 전용 시스템입니다.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⚙️  기능 정의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로그인 처리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POST /login (Spring Security FormLogin 자동 처리)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🔀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ROLE별 리다이렉트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DOCTOR → /doctor/dashboard · STAFF → /staff/dashboard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실패 메시지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?error 파라미터 → 오류 문구 표시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로그아웃 완료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?logout 파라미터 → 완료 문구 표시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🛡️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이미 로그인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ROLE별 대시보드로 즉시 리다이렉트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791456" y="32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28032" y="32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/login  (Spring Security FormLogin)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315968" y="3509467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0" y="3509467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🏗️  레이아웃 — L3 로그인 전용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315968" y="372160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70832" y="372160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H3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645152" y="372160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로그인 전용 헤더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870448" y="372160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병원 이름만 중앙 표시 (로고 없음)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370832" y="395203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—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645152" y="395203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사이드바 없음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870448" y="395203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S0 미적용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315968" y="418246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70832" y="418246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—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45152" y="418246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푸터 없음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70448" y="418246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미니멀 로그인 전용 레이아웃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315968" y="4460443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89120" y="4460443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📌  DOCTOR 로그인 후 동선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389120" y="4672584"/>
            <a:ext cx="4590288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43984" y="4709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로그인 성공 → ROLE_DOCTOR 확인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→ /doctor/dashboard (화면 11) 자동 이동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의사 (DOCTOR)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0A5FA"/>
                </a:solidFill>
              </a:rPr>
              <a:t>화면 11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DOCTOR 대시보드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GET  /doctor/dashboard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</a:rPr>
              <a:t>doctor/dashboard.mustache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S2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대시보드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김철수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2194560"/>
            <a:ext cx="822960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" y="22128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221284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대시보드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83464" y="285292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285292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진료 목록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83464" y="34930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4930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챗봇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124712" y="2212848"/>
            <a:ext cx="2962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2A42"/>
                </a:solidFill>
              </a:rPr>
              <a:t>📅 2026년 3월 15일 (월)  /  외과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124712" y="2432304"/>
            <a:ext cx="957072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0F2A4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124712" y="2468880"/>
            <a:ext cx="957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오늘 진료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124712" y="2633472"/>
            <a:ext cx="957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2"/>
                </a:solidFill>
              </a:rPr>
              <a:t>8 건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127504" y="2432304"/>
            <a:ext cx="957072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127504" y="2468880"/>
            <a:ext cx="957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</a:rPr>
              <a:t>진료 대기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127504" y="2633472"/>
            <a:ext cx="957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5 건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130296" y="2432304"/>
            <a:ext cx="957072" cy="47548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130296" y="2468880"/>
            <a:ext cx="957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</a:rPr>
              <a:t>진료 완료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130296" y="2633472"/>
            <a:ext cx="957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3 건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051560" y="2953512"/>
            <a:ext cx="3108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24712" y="3008376"/>
            <a:ext cx="2962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오늘 진료 일정 미리보기 (RECEIVED 상위 3건)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051560" y="3182112"/>
            <a:ext cx="3108960" cy="1828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51560" y="318211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시간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399032" y="318211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환자명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929384" y="31821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특이사항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051560" y="3364992"/>
            <a:ext cx="31089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1560" y="336499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09:00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399032" y="336499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홍길동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929384" y="33649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고혈압 약 복용 중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051560" y="3566160"/>
            <a:ext cx="310896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51560" y="356616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09:30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399032" y="356616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이수연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929384" y="35661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당뇨 이력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051560" y="3767328"/>
            <a:ext cx="31089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51560" y="376732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10:00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399032" y="37673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박민준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929384" y="37673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—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124712" y="4005072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563EB"/>
                </a:solidFill>
              </a:rPr>
              <a:t>▶ 진료 목록 전체 보기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통계 카드 3개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오늘진료(전체)·진료대기(RECEIVED)·진료완료(COMPLETED) 건수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 목록 전체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/doctor/treatment/list 이동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챗봇 버튼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H2 우측 고정 → 챗봇 오버레이(C1) 열기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🗓️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 미리보기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본인 담당 RECEIVED 시간 순 상위 3건 + 특이사항 SSR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315968" y="2827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89120" y="2827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389120" y="3039466"/>
            <a:ext cx="4590288" cy="53035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443984" y="307604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pageTitle · doctorName · department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todayTotal · receivedCount · completedCount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recentTreatments: List&lt;Reservation&gt;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  ↳ {time, patientName, note}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4315968" y="365394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89120" y="365394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🏗️  레이아웃 — L2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315968" y="386608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70832" y="386608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H2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4645152" y="386608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내부 직원 헤더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5870448" y="386608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로고·메뉴명·로그인명(DOCTOR)·[💬]·[로그아웃]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4370832" y="409651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S2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4645152" y="409651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DOCTOR 사이드 메뉴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5870448" y="409651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대시보드(강조)·오늘진료목록·챗봇열기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315968" y="432694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70832" y="432694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F2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4645152" y="432694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내부 직원 푸터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5870448" y="432694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저작권 표시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의사 (DOCTOR)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0A5FA"/>
                </a:solidFill>
              </a:rPr>
              <a:t>화면 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오늘 진료 목록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GET  /doctor/treatment/list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</a:rPr>
              <a:t>doctor/treatment-list.mustache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S2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오늘 진료 목록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김철수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22128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221284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대시보드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28600" y="2834640"/>
            <a:ext cx="822960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" y="285292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285292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진료 목록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83464" y="34930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4930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챗봇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124712" y="2203704"/>
            <a:ext cx="2962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2A42"/>
                </a:solidFill>
              </a:rPr>
              <a:t>📅 2026-03-15  /  외과  /  김철수 전문의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088136" y="2404872"/>
            <a:ext cx="3035808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43000" y="247802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상태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435608" y="2468880"/>
            <a:ext cx="58521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53896" y="246888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전체 ▼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075688" y="24780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환자명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478024" y="2468880"/>
            <a:ext cx="7132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27832" y="2468880"/>
            <a:ext cx="36576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27832" y="2468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검색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630168" y="2468880"/>
            <a:ext cx="4572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0168" y="246888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초기화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124712" y="2788920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총 8건 중 8건 표시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051560" y="2971800"/>
            <a:ext cx="3108960" cy="1828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51560" y="297180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시간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380744" y="297180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환자명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856232" y="297180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특이사항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2880360" y="297180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처리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051560" y="3154680"/>
            <a:ext cx="3108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51560" y="31546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09:00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380744" y="315468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홍길동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856232" y="315468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고혈압 약 복용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898648" y="3191256"/>
            <a:ext cx="475488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98648" y="31912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진료기록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입력</a:t>
            </a:r>
            <a:endParaRPr lang="en-US" sz="550" dirty="0"/>
          </a:p>
        </p:txBody>
      </p:sp>
      <p:sp>
        <p:nvSpPr>
          <p:cNvPr id="60" name="Shape 58"/>
          <p:cNvSpPr/>
          <p:nvPr/>
        </p:nvSpPr>
        <p:spPr>
          <a:xfrm>
            <a:off x="1051560" y="3429000"/>
            <a:ext cx="310896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1560" y="342900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09:30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1380744" y="34290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박민준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856232" y="342900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—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898648" y="3465576"/>
            <a:ext cx="475488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98648" y="346557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진료기록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입력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1051560" y="3703320"/>
            <a:ext cx="3108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51560" y="37033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10:00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380744" y="37033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이수연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1856232" y="3703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당뇨 이력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2916936" y="3758184"/>
            <a:ext cx="438912" cy="14630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916936" y="3758184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</a:rPr>
              <a:t>✅ 완료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1051560" y="403250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[이전]  1 / 1  [다음]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당일 목록 SSR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로그인 의사 담당 / 오늘 날짜 / RECEIVED·COMPLETED, 시간 순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상태 필터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RECEIVED·COMPLETED·전체 → ?status=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🔎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환자명 검색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부분 일치 검색 → ?keyword=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📄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페이징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20건/페이지 → ?page=0 (0-based)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✍️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진료기록 입력 버튼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RECEIVED 상태에만 표시 → /doctor/treatment/detail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완료 표시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COMPLETED → '✅ 완료' 텍스트, 버튼 없음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315968" y="3240634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70832" y="3240634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4645152" y="3240634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챗봇 버튼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5870448" y="3240634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헤더 우측 고정 [💬] → 챗봇 오버레이(C1)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4315968" y="3518611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389120" y="3518611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🌐  쿼리 파라미터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4389120" y="3730752"/>
            <a:ext cx="4590288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443984" y="37673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?status=RECEIVED|COMPLETED (전체 기본)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?keyword={patientName}  ·  ?page=0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(본인 담당 예약만 조회, ADMIN은 전체 가능)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4315968" y="4180637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389120" y="4180637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389120" y="4392778"/>
            <a:ext cx="4590288" cy="42062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443984" y="442935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pageTitle · doctorName · department · today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treatments: Page&lt;Reservation&gt;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  ↳ {time, patient, note, status}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의사 (DOCTOR)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0A5FA"/>
                </a:solidFill>
              </a:rPr>
              <a:t>화면 13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진료 기록 입력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GET  /doctor/treatment/detail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</a:rPr>
              <a:t>doctor/treatment-detail.mustache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S2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진료 기록 입력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김철수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22128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221284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대시보드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28600" y="2834640"/>
            <a:ext cx="822960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" y="285292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285292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진료 목록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83464" y="34930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4930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챗봇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124712" y="2203704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예약 정보 (읽기 전용) ──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088136" y="2368296"/>
            <a:ext cx="303580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43000" y="236829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예약번호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819656" y="2368296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</a:rPr>
              <a:t>RES-20260315-001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088136" y="2551176"/>
            <a:ext cx="3035808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43000" y="25511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예약 시간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819656" y="2551176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09:00  /  외과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088136" y="2734056"/>
            <a:ext cx="303580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273405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예약 상태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819656" y="2734056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🟢 RECEIVED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24712" y="2962656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환자 정보 (읽기 전용) ──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088136" y="3127248"/>
            <a:ext cx="303580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43000" y="312724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이름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819656" y="312724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홍길동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088136" y="3310128"/>
            <a:ext cx="3035808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43000" y="331012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연락처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819656" y="331012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010-1234-5678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088136" y="3493008"/>
            <a:ext cx="303580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43000" y="34930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특이사항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819656" y="349300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고혈압 약 복용 중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124712" y="3721608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진료 내용 입력 ──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106424" y="3886200"/>
            <a:ext cx="29992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43000" y="39227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진료 소견·처방 내용을 입력하세요.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(예: 급성 맹장염 의심. 정밀 검사 후 수술 여부 결정 예정. 금식.)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124712" y="4233672"/>
            <a:ext cx="2907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0 / 2000자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1124712" y="4416552"/>
            <a:ext cx="1426464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24712" y="441655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진료 완료 처리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2660904" y="4416552"/>
            <a:ext cx="1426464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660904" y="441655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124712" y="465429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진료 목록으로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예약·환자 정보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예약번호·시간·진료과·상태·이름·연락처·특이사항 (읽기전용)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✍️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 내용 입력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diagnosisNote textarea, 최대 2000자, 글자 수 카운터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 완료 처리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TreatmentRecord 저장 + RECEIVED→COMPLETED (@Transactional)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🚫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타 의사 접근 차단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본인 담당 아닌 예약 접근 시 403 오류 페이지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👁️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이미 완료된 예약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COMPLETED 상태 → 진료 내용 읽기 전용, 입력 폼 숨김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챗봇 버튼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헤더 우측 고정 [💬] → 챗봇 오버레이(C1)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315968" y="328818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389120" y="328818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4389120" y="350032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389120" y="350032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791456" y="350032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28032" y="350032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/doctor/treatment/complete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4425696" y="3692347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요청: { reservationId, diagnosisNote? }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315968" y="394106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89120" y="394106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🚨  오류 처리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315968" y="4134917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07408" y="4134917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타 의사 환자 접근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6300216" y="4134917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403 오류 페이지 표시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4315968" y="4343400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407408" y="4343400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COMPLETED 상태 접근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6300216" y="4343400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진료내용 읽기전용·입력폼 숨김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4315968" y="459943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389120" y="459943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389120" y="4811573"/>
            <a:ext cx="4590288" cy="45720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443984" y="4848149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pageTitle · reservation: Reservation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patient: Patient · diagnosisNote?: String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isCompletable: Boolean  // RECEIVED 여부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의사 (DOCTOR)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0A5FA"/>
                </a:solidFill>
              </a:rPr>
              <a:t>화면 C1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LLM 챗봇 오버레이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JS 오버레이  POST /llm/rules/ask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</a:rPr>
              <a:t>common/chatbot-overlay.js (Vanilla JS)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ROLE_DOCTOR · ROLE_NURSE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9169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" y="2039112"/>
            <a:ext cx="2798064" cy="2734056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88720" y="2039112"/>
            <a:ext cx="2798064" cy="25603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203911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병원 도우미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94176" y="2084832"/>
            <a:ext cx="219456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94176" y="208483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61872" y="2350008"/>
            <a:ext cx="2249424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98448" y="238658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D4ED8"/>
                </a:solidFill>
              </a:rPr>
              <a:t>[직원]  응급 처치 키트 위치가 어디인가요?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627632" y="2697480"/>
            <a:ext cx="2249424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64208" y="273405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[AI]  3층 간호사 스테이션 좌측 캐비닛에 보관되어 있습니다.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261872" y="3118104"/>
            <a:ext cx="2249424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98448" y="316382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D4ED8"/>
                </a:solidFill>
              </a:rPr>
              <a:t>[직원]  사용 후 재보충 절차는?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627632" y="3429000"/>
            <a:ext cx="2249424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64208" y="3465576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[AI]  담당 간호사에게 보고 후 원무과에 신청합니다.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280160" y="381304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⏳ 응답 대기 중...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188720" y="4032504"/>
            <a:ext cx="279806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61872" y="4069080"/>
            <a:ext cx="2157984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98448" y="406908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질문을 입력하세요...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456432" y="4069080"/>
            <a:ext cx="45720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56432" y="40690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전송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776472" y="4270248"/>
            <a:ext cx="292608" cy="292608"/>
          </a:xfrm>
          <a:prstGeom prst="OVAL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776472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💬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챗봇 열기·닫기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[💬] 클릭 시 오버레이 토글, [✕] 클릭 시 닫기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📤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질문 전송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텍스트 입력 후 [전송] 또는 Enter → 비동기 POST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🗂️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대화 이력 표시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세션 질문·답변 시간 순, 직원/AI 말풍선 구분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🔄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세션 이력 유지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오버레이 닫았다 열어도 세션 내 이력 유지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⏳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로딩 인디케이터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응답 대기 중 입력창 비활성화 + 스피너 표시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❓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규칙 외 질문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'등록된 규칙에서 확인할 수 없습니다.' 표시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315968" y="328818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0" y="328818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389120" y="350032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0" y="350032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791456" y="350032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28032" y="350032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/llm/rules/ask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425696" y="3692347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요청: { question: String }  →  { answer: String }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389120" y="3893515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89120" y="3893515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791456" y="3893515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28032" y="3893515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/llm/rules/history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4425696" y="4085539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현재 세션 대화 이력 조회 (오버레이 열기 시 호출)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315968" y="4334256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89120" y="433425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🚨  오류 처리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315968" y="4528109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407408" y="4528109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LLM_SERVICE_UNAVAILABLE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300216" y="4528109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'챗봇 서비스가 일시적으로 불가합니다.' 표시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4315968" y="4736592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407408" y="4736592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규칙 외 질문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300216" y="4736592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'등록된 규칙에서 확인할 수 없습니다.' 표시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315968" y="499262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89120" y="499262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🔐  접근 권한 및 세션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315968" y="5204765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70832" y="520476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4645152" y="520476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접근 권한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870448" y="520476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ROLE_DOCTOR · ROLE_NURSE (STAFF·ADMIN 미노출)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4370832" y="5435194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💾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4645152" y="5435194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이력 저장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870448" y="5435194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질문·답변 → CHATBOT_HISTORY 테이블 세션 단위 저장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315968" y="5665622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70832" y="566562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🔓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4645152" y="566562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세션 종료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5870448" y="566562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로그아웃 시 DB 보존, 다음 로그인은 새 세션 시작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B27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2286000" cy="228600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"/>
            <a:ext cx="2560320" cy="256032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74320"/>
            <a:ext cx="2834640" cy="283464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640080"/>
            <a:ext cx="3108960" cy="310896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1005840"/>
            <a:ext cx="3383280" cy="338328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💊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645920" y="10972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간호사 (NURSE)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4592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ROLE_NURSE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45920" y="2304288"/>
            <a:ext cx="36576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4871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목표: 전체 예약 현황 파악, 환자 정보 관리, 재고 부족 모니터링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200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화면 05  ·  화면 14  ·  화면 15  ·  화면 16  ·  화면 C1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</a:rPr>
              <a:t>🏥 병원 예약 &amp; 내부 업무 시스템  |  사용자별 스토리보드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2"/>
                </a:solidFill>
              </a:rPr>
              <a:t>💊 간호사 (NURSE)  —  화면 여정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전체 예약 현황 파악, 환자 정보 관리, 재고 부족 모니터링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09344"/>
            <a:ext cx="1097280" cy="5029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737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B2777"/>
                </a:solidFill>
              </a:rPr>
              <a:t>주요 흐름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32688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1783080"/>
            <a:ext cx="1572768" cy="20116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05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96696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로그인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96696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NURSE 계정 로그인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05456" y="2167128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2039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34640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34640" y="1783080"/>
            <a:ext cx="1572768" cy="20116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14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898648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NURSE 대시보드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98648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전체 현황·재고 부족 확인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07408" y="2167128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039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36592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1783080"/>
            <a:ext cx="1572768" cy="20116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15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00600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오늘 예약 현황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전체 환자 예약 목록 조회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309360" y="2167128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2039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38544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38544" y="1783080"/>
            <a:ext cx="1572768" cy="20116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38544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16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02552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환자 정보 수정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02552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환자명 클릭 → 정보 수정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2670048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274320" y="27157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64748B"/>
                </a:solidFill>
              </a:rPr>
              <a:t>대체 / 추가 흐름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737360" y="2935224"/>
            <a:ext cx="21031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737360" y="2935224"/>
            <a:ext cx="210312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37360" y="29352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C1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801368" y="3154680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챗봇 (오버레이)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801368" y="3438144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병원 규칙 질의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913632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913632"/>
            <a:ext cx="91440" cy="12344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" y="4023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84632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4종 건수 모니터링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4632" y="4681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RESERVED·RECEIVED·COMPLETED·CANCELLED 실시간 집계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108960" y="3913632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0" y="3913632"/>
            <a:ext cx="91440" cy="12344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73552" y="4023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3273552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재고 부족 알림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73552" y="4681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최소 수량 미달 물품 대시보드 상단 즉시 알림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97880" y="3913632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897880" y="3913632"/>
            <a:ext cx="91440" cy="12344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023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6062472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환자 정보 수정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062472" y="4681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당일 예약 연동 — 예약 확인 후 특이사항 업데이트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간호사 (NURSE)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472B6"/>
                </a:solidFill>
              </a:rPr>
              <a:t>화면 05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로그인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GET  /login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E185D"/>
                </a:solidFill>
              </a:rPr>
              <a:t>auth/login.mustache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S3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9169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 내부 시스템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" y="2267712"/>
            <a:ext cx="3236976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" y="2395728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직원 로그인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" y="2670048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아이디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52728" y="2670048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9304" y="2670048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lee_nurse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7512" y="292608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비밀번호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52728" y="2926080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9304" y="2926080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••••••••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로그인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" y="3547872"/>
            <a:ext cx="3090672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354787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⚠️ 아이디 또는 비밀번호가 올바르지 않습니다. ← ?error 시만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01752" y="400507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🔒 내부 직원 전용 시스템입니다.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⚙️  기능 정의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로그인 처리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POST /login (Spring Security FormLogin 자동 처리)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🔀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ROLE별 리다이렉트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NURSE → /nurse/dashboard · DOCTOR → /doctor/dashboard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실패 메시지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?error 파라미터 → 오류 문구 표시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로그아웃 완료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?logout 파라미터 → 완료 문구 표시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🛡️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이미 로그인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ROLE별 대시보드로 즉시 리다이렉트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791456" y="32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28032" y="32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/login  (Spring Security FormLogin)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315968" y="3509467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0" y="3509467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🏗️  레이아웃 — L3 로그인 전용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315968" y="372160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70832" y="372160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H3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645152" y="372160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로그인 전용 헤더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870448" y="372160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병원 이름만 중앙 표시 (로고 없음)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370832" y="395203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—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645152" y="395203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사이드바 없음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870448" y="395203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S0 미적용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315968" y="418246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70832" y="418246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—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45152" y="418246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푸터 없음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70448" y="418246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미니멀 로그인 전용 레이아웃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315968" y="4460443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89120" y="4460443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📌  NURSE 로그인 후 동선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389120" y="4672584"/>
            <a:ext cx="4590288" cy="347472"/>
          </a:xfrm>
          <a:prstGeom prst="rect">
            <a:avLst/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43984" y="4709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185D"/>
                </a:solidFill>
              </a:rPr>
              <a:t>로그인 성공 → ROLE_NURSE 확인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E185D"/>
                </a:solidFill>
              </a:rPr>
              <a:t>→ /nurse/dashboard (화면 14) 자동 이동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간호사 (NURSE)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472B6"/>
                </a:solidFill>
              </a:rPr>
              <a:t>화면 14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NURSE 대시보드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GET  /nurse/dashboard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E185D"/>
                </a:solidFill>
              </a:rPr>
              <a:t>nurse/dashboard.mustache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S3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대시보드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이간호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2194560"/>
            <a:ext cx="822960" cy="310896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" y="22128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221284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대시보드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83464" y="285292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285292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예약 현황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83464" y="34930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4930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챗봇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124712" y="2203704"/>
            <a:ext cx="2962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2A42"/>
                </a:solidFill>
              </a:rPr>
              <a:t>📅 2026년 3월 15일 (월)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106424" y="2404872"/>
            <a:ext cx="704088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0F2A4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106424" y="2441448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오늘 전체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1106424" y="2587752"/>
            <a:ext cx="704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2"/>
                </a:solidFill>
              </a:rPr>
              <a:t>18건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865376" y="2404872"/>
            <a:ext cx="704088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865376" y="2441448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97706"/>
                </a:solidFill>
              </a:rPr>
              <a:t>접수 대기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1865376" y="2587752"/>
            <a:ext cx="704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8건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624328" y="2404872"/>
            <a:ext cx="704088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624328" y="2441448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진료 대기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2624328" y="2587752"/>
            <a:ext cx="704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6건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383280" y="2404872"/>
            <a:ext cx="704088" cy="457200"/>
          </a:xfrm>
          <a:prstGeom prst="rect">
            <a:avLst/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383280" y="2441448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B2777"/>
                </a:solidFill>
              </a:rPr>
              <a:t>완료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3383280" y="2587752"/>
            <a:ext cx="704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B2777"/>
                </a:solidFill>
              </a:rPr>
              <a:t>4건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106424" y="2907792"/>
            <a:ext cx="2999232" cy="182880"/>
          </a:xfrm>
          <a:prstGeom prst="rect">
            <a:avLst/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06424" y="2907792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E185D"/>
                </a:solidFill>
              </a:rPr>
              <a:t>📋 오늘 예약 현황 전체 보기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124712" y="3127248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진료 대기 중 (RECEIVED 상위 3건)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051560" y="3291840"/>
            <a:ext cx="3108960" cy="1645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1560" y="32918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시간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1344168" y="329184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환자명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1746504" y="32918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진료과/의사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2569464" y="329184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특이사항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1051560" y="3456432"/>
            <a:ext cx="31089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51560" y="345643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09:00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1344168" y="345643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홍길동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1746504" y="34564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외과/김철수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569464" y="345643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고혈압 약 복용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1051560" y="3657600"/>
            <a:ext cx="310896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51560" y="36576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09:30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1344168" y="365760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이수연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1746504" y="3657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외과/김철수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2569464" y="365760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당뇨 이력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1088136" y="3913632"/>
            <a:ext cx="3035808" cy="47548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43000" y="395020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⚠️ 재고 부족 2건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1143000" y="4114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일회용 주사기  현재 50개 / 최소 100개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혈당 측정 스트립  현재 20개 / 최소 50개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통계 카드 4종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오늘전체·접수대기(RESERVED)·진료대기(RECEIVED)·완료(COMPLETED)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예약 현황 전체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/nurse/schedule/list 이동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챗봇 버튼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H2 우측 고정 → 챗봇 오버레이(C1) 열기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🏥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 대기 미리보기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RECEIVED 상위 3건 + 진료과·의사·특이사항 SSR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재고 부족 알림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quantity &lt; min_quantity 항목 표시, 없으면 섹션 숨김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389120" y="3269894"/>
            <a:ext cx="4590288" cy="53035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443984" y="330647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pageTitle · today · nurseName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todayTotal · reservedCount · receivedCount · completedCount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recentReceived: List&lt;Reservation&gt;  // RECEIVED 상위 3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lowStockItems: List&lt;Inventory&gt;  // quantity &lt; min_quantity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4315968" y="3884371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89120" y="3884371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🏗️  레이아웃 — L2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4315968" y="4096512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370832" y="409651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H2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4645152" y="409651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내부 직원 헤더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5870448" y="409651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로고·메뉴명·로그인명(NURSE)·[💬]·[로그아웃]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4370832" y="432694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S3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4645152" y="432694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NURSE 사이드 메뉴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5870448" y="432694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대시보드(강조)·오늘예약현황·챗봇열기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4315968" y="455737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370832" y="455737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F2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4645152" y="455737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내부 직원 푸터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5870448" y="455737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저작권 표시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간호사 (NURSE)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472B6"/>
                </a:solidFill>
              </a:rPr>
              <a:t>화면 15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오늘 예약 현황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GET  /nurse/schedule/list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E185D"/>
                </a:solidFill>
              </a:rPr>
              <a:t>nurse/schedule-list.mustache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S3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오늘 예약 현황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이간호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22128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221284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대시보드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28600" y="2834640"/>
            <a:ext cx="822960" cy="310896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" y="285292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285292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예약 현황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83464" y="34930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4930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챗봇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124712" y="2203704"/>
            <a:ext cx="2962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2A42"/>
                </a:solidFill>
              </a:rPr>
              <a:t>📅 2026-03-15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106424" y="2404872"/>
            <a:ext cx="70866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06424" y="2423160"/>
            <a:ext cx="7086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D97706"/>
                </a:solidFill>
              </a:rPr>
              <a:t>RESERVED</a:t>
            </a:r>
            <a:endParaRPr lang="en-US" sz="550" dirty="0"/>
          </a:p>
        </p:txBody>
      </p:sp>
      <p:sp>
        <p:nvSpPr>
          <p:cNvPr id="40" name="Text 38"/>
          <p:cNvSpPr/>
          <p:nvPr/>
        </p:nvSpPr>
        <p:spPr>
          <a:xfrm>
            <a:off x="1106424" y="2569464"/>
            <a:ext cx="7086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5건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869948" y="2404872"/>
            <a:ext cx="708660" cy="32918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69948" y="2423160"/>
            <a:ext cx="7086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59669"/>
                </a:solidFill>
              </a:rPr>
              <a:t>RECEIVED</a:t>
            </a:r>
            <a:endParaRPr lang="en-US" sz="550" dirty="0"/>
          </a:p>
        </p:txBody>
      </p:sp>
      <p:sp>
        <p:nvSpPr>
          <p:cNvPr id="43" name="Text 41"/>
          <p:cNvSpPr/>
          <p:nvPr/>
        </p:nvSpPr>
        <p:spPr>
          <a:xfrm>
            <a:off x="1869948" y="2569464"/>
            <a:ext cx="7086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3건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33472" y="2404872"/>
            <a:ext cx="70866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33472" y="2423160"/>
            <a:ext cx="7086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D4ED8"/>
                </a:solidFill>
              </a:rPr>
              <a:t>COMPLETED</a:t>
            </a:r>
            <a:endParaRPr lang="en-US" sz="550" dirty="0"/>
          </a:p>
        </p:txBody>
      </p:sp>
      <p:sp>
        <p:nvSpPr>
          <p:cNvPr id="46" name="Text 44"/>
          <p:cNvSpPr/>
          <p:nvPr/>
        </p:nvSpPr>
        <p:spPr>
          <a:xfrm>
            <a:off x="2633472" y="2569464"/>
            <a:ext cx="7086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4건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396996" y="2404872"/>
            <a:ext cx="708660" cy="329184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96996" y="2423160"/>
            <a:ext cx="7086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DC2626"/>
                </a:solidFill>
              </a:rPr>
              <a:t>CANCELLED</a:t>
            </a:r>
            <a:endParaRPr lang="en-US" sz="550" dirty="0"/>
          </a:p>
        </p:txBody>
      </p:sp>
      <p:sp>
        <p:nvSpPr>
          <p:cNvPr id="49" name="Text 47"/>
          <p:cNvSpPr/>
          <p:nvPr/>
        </p:nvSpPr>
        <p:spPr>
          <a:xfrm>
            <a:off x="3396996" y="2569464"/>
            <a:ext cx="7086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1건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88136" y="2779776"/>
            <a:ext cx="303580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24712" y="283464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상태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435608" y="2834640"/>
            <a:ext cx="21945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453896" y="28346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전체 ▼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709928" y="283464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진료과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020824" y="2834640"/>
            <a:ext cx="21945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39112" y="28346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전체 ▼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2295144" y="283464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의사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606040" y="2834640"/>
            <a:ext cx="21945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24328" y="28346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전체 ▼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124712" y="2962656"/>
            <a:ext cx="109728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58568" y="2962656"/>
            <a:ext cx="402336" cy="14630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58568" y="296265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검색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2697480" y="2962656"/>
            <a:ext cx="43891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697480" y="296265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초기화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124712" y="3200400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총 13건 표시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051560" y="3364992"/>
            <a:ext cx="3108960" cy="1828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51560" y="33649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시간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1344168" y="336499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환자명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1819656" y="336499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2221992" y="336499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의사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2624328" y="336499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상태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1051560" y="3547872"/>
            <a:ext cx="3108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51560" y="354787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09:00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344168" y="354787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홍길동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819656" y="3547872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외과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2221992" y="3547872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김철수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2660904" y="3584448"/>
            <a:ext cx="713232" cy="14630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660904" y="3584448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</a:rPr>
              <a:t>🟢 RECEIVED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1051560" y="3767328"/>
            <a:ext cx="3108960" cy="21945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" y="376732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09:30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1344168" y="376732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이영희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1819656" y="376732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내과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2221992" y="376732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이영수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2660904" y="3803904"/>
            <a:ext cx="713232" cy="14630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660904" y="380390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97706"/>
                </a:solidFill>
              </a:rPr>
              <a:t>🟡 RESERVED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1051560" y="3986784"/>
            <a:ext cx="3108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51560" y="398678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10:00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1344168" y="398678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박민준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1819656" y="398678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피부과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2221992" y="398678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최지은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2660904" y="4023360"/>
            <a:ext cx="713232" cy="146304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660904" y="4023360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</a:rPr>
              <a:t>✅ COMPLETED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1051560" y="4242816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[이전]  1 / 1  [다음]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상태별 건수 요약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RESERVED·RECEIVED·COMPLETED·CANCELLED 4종 집계 카드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전체 예약 표시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당일 전 의사·전 진료과, 시간 순 정렬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상태 필터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4종 + 전체 → ?status=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🏥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진료과 필터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활성 진료과 드롭다운 → ?departmentId=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의사 필터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활성 의사 드롭다운 → ?doctorId=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🔎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환자명 검색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부분 일치 → ?keyword=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4315968" y="3240634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370832" y="3240634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🖱️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4645152" y="3240634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환자명 클릭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5870448" y="3240634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/nurse/patient/detail?patientId={id} 이동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4370832" y="347106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📄</a:t>
            </a:r>
            <a:endParaRPr lang="en-US" sz="1100" dirty="0"/>
          </a:p>
        </p:txBody>
      </p:sp>
      <p:sp>
        <p:nvSpPr>
          <p:cNvPr id="122" name="Text 120"/>
          <p:cNvSpPr/>
          <p:nvPr/>
        </p:nvSpPr>
        <p:spPr>
          <a:xfrm>
            <a:off x="4645152" y="347106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페이징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5870448" y="347106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20건/페이지 → ?page=0 (0-based)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4315968" y="370149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370832" y="370149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126" name="Text 124"/>
          <p:cNvSpPr/>
          <p:nvPr/>
        </p:nvSpPr>
        <p:spPr>
          <a:xfrm>
            <a:off x="4645152" y="370149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챗봇 버튼</a:t>
            </a:r>
            <a:endParaRPr lang="en-US" sz="850" dirty="0"/>
          </a:p>
        </p:txBody>
      </p:sp>
      <p:sp>
        <p:nvSpPr>
          <p:cNvPr id="127" name="Text 125"/>
          <p:cNvSpPr/>
          <p:nvPr/>
        </p:nvSpPr>
        <p:spPr>
          <a:xfrm>
            <a:off x="5870448" y="370149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헤더 우측 고정 [💬] → C1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4315968" y="3979469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389120" y="3979469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4389120" y="4191610"/>
            <a:ext cx="4590288" cy="42062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443984" y="422818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pageTitle · today · stats: {reserved,received,completed,cancelled}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schedules: Page&lt;Reservation&gt;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  ↳ {time, patient, department, doctor, status}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간호사 (NURSE)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472B6"/>
                </a:solidFill>
              </a:rPr>
              <a:t>화면 16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환자 정보 조회·수정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GET  /nurse/patient/detail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E185D"/>
                </a:solidFill>
              </a:rPr>
              <a:t>nurse/patient-detail.mustache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S3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환자 정보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이간호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22128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221284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대시보드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28600" y="2834640"/>
            <a:ext cx="822960" cy="310896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" y="285292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285292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예약 현황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83464" y="34930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4930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챗봇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124712" y="2203704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환자 정보 ──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088136" y="2368296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43000" y="236829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이름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764792" y="2395728"/>
            <a:ext cx="230428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01368" y="2395728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홍길동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088136" y="2569464"/>
            <a:ext cx="303580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43000" y="2569464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연락처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764792" y="2596896"/>
            <a:ext cx="230428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01368" y="2596896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010-1234-9999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088136" y="2770632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43000" y="2770632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이메일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783080" y="27706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hong@example.com (수정 불가)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143000" y="297180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특이사항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764792" y="2971800"/>
            <a:ext cx="230428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01368" y="300837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당뇨 이력 있음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고혈압 약 복용 중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124712" y="3374136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오늘 예약 정보 (읽기 전용) ──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088136" y="3538728"/>
            <a:ext cx="303580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43000" y="35387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시간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545336" y="35387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09:00  /  외과  /  김철수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088136" y="3739896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43000" y="373989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상태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545336" y="3776472"/>
            <a:ext cx="694944" cy="128016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545336" y="3776472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</a:rPr>
              <a:t>🟢 RECEIVED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1124712" y="3977640"/>
            <a:ext cx="1426464" cy="20116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24712" y="397764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저장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660904" y="3977640"/>
            <a:ext cx="1426464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60904" y="397764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124712" y="42153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예약 현황으로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✏️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이름·연락처 수정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입력 필드 수정 가능, 저장 시 DB 반영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📝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특이사항 수정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textarea 수정 가능, 저장 시 DB 반영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🔒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이메일 표시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읽기 전용 표시 (수정 불가)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📅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오늘 예약 정보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해당 환자 오늘 예약 시간·진료과·의사·상태 (읽기전용)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저장 성공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완료 toast 후 /nurse/schedule/list 이동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챗봇 버튼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헤더 우측 고정 [💬] → C1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315968" y="328818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89120" y="328818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389120" y="350032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89120" y="350032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791456" y="350032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828032" y="350032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/nurse/patient/update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4425696" y="3692347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요청: { patientId, name, phone, note? }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4315968" y="394106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89120" y="394106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🚨  오류 처리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4315968" y="4134917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407408" y="4134917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존재하지 않는 patientId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6300216" y="4134917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404 → /nurse/schedule/list 리다이렉트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4315968" y="4343400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407408" y="4343400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저장 실패 (유효성 오류)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6300216" y="4343400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폼 인라인 오류 메시지 표시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4315968" y="459943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389120" y="459943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4389120" y="4811573"/>
            <a:ext cx="4590288" cy="42062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443984" y="4848149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pageTitle · patient: Patient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todayReservation: Reservation  // nullable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  ↳ {time, department, doctor, status}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간호사 (NURSE)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472B6"/>
                </a:solidFill>
              </a:rPr>
              <a:t>화면 C1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LLM 챗봇 오버레이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JS 오버레이  POST /llm/rules/ask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E185D"/>
                </a:solidFill>
              </a:rPr>
              <a:t>common/chatbot-overlay.js (Vanilla JS)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ROLE_NURSE · ROLE_DOCTOR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9169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" y="2039112"/>
            <a:ext cx="2798064" cy="2734056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88720" y="2039112"/>
            <a:ext cx="2798064" cy="25603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203911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병원 도우미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94176" y="2084832"/>
            <a:ext cx="219456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94176" y="208483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61872" y="2350008"/>
            <a:ext cx="2249424" cy="310896"/>
          </a:xfrm>
          <a:prstGeom prst="rect">
            <a:avLst/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98448" y="238658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185D"/>
                </a:solidFill>
              </a:rPr>
              <a:t>[직원]  혈당 측정 스트립 재보충 절차가 어떻게 되나요?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627632" y="2697480"/>
            <a:ext cx="2249424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64208" y="273405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[AI]  원무과 물품 신청서를 작성 후 수간호사 결재를 받아 진행하면 됩니다.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261872" y="3118104"/>
            <a:ext cx="2249424" cy="274320"/>
          </a:xfrm>
          <a:prstGeom prst="rect">
            <a:avLst/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98448" y="316382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185D"/>
                </a:solidFill>
              </a:rPr>
              <a:t>[직원]  신청서 양식은 어디에 있나요?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627632" y="3429000"/>
            <a:ext cx="2249424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64208" y="3465576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[AI]  인트라넷 → 서식자료실 → '물품신청서'를 검색하시면 됩니다.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280160" y="381304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⏳ 응답 대기 중...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188720" y="4032504"/>
            <a:ext cx="279806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61872" y="4069080"/>
            <a:ext cx="2157984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98448" y="406908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질문을 입력하세요...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456432" y="4069080"/>
            <a:ext cx="457200" cy="20116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56432" y="40690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전송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776472" y="4270248"/>
            <a:ext cx="292608" cy="292608"/>
          </a:xfrm>
          <a:prstGeom prst="OVAL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776472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💬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챗봇 열기·닫기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[💬] 클릭 시 오버레이 토글, [✕] 클릭 시 닫기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📤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질문 전송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텍스트 입력 후 [전송] 또는 Enter → 비동기 POST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🗂️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대화 이력 표시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세션 질문·답변 시간 순, 직원/AI 말풍선 구분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🔄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세션 이력 유지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오버레이 닫았다 열어도 세션 내 이력 유지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⏳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로딩 인디케이터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응답 대기 중 입력창 비활성화 + 스피너 표시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❓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규칙 외 질문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'등록된 규칙에서 확인할 수 없습니다.' 표시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315968" y="328818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0" y="328818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389120" y="350032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0" y="350032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791456" y="350032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28032" y="350032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/llm/rules/ask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425696" y="3692347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요청: { question: String }  →  { answer: String }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389120" y="3893515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89120" y="3893515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791456" y="3893515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28032" y="3893515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/llm/rules/history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4425696" y="4085539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현재 세션 대화 이력 조회 (오버레이 열기 시 호출)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315968" y="4334256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89120" y="433425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🚨  오류 처리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315968" y="4528109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407408" y="4528109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LLM_SERVICE_UNAVAILABLE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300216" y="4528109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'챗봇 서비스가 일시적으로 불가합니다.' 표시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4315968" y="4736592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407408" y="4736592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규칙 외 질문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300216" y="4736592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'등록된 규칙에서 확인할 수 없습니다.' 표시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315968" y="499262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89120" y="499262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🔐  접근 권한 및 세션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315968" y="5204765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70832" y="520476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4645152" y="520476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접근 권한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870448" y="520476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ROLE_NURSE · ROLE_DOCTOR (STAFF·ADMIN 미노출)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4370832" y="5435194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💾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4645152" y="5435194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이력 저장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870448" y="5435194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질문·답변 → CHATBOT_HISTORY 테이블 세션 단위 저장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315968" y="5665622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70832" y="566562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🔓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4645152" y="566562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세션 종료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5870448" y="566562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로그아웃 시 DB 보존, 다음 로그인은 새 세션 시작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2286000" cy="228600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"/>
            <a:ext cx="2560320" cy="256032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74320"/>
            <a:ext cx="2834640" cy="283464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640080"/>
            <a:ext cx="3108960" cy="310896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1005840"/>
            <a:ext cx="3383280" cy="338328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📦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645920" y="10972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물품 담당자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4592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ROLE_ADMIN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45920" y="2304288"/>
            <a:ext cx="36576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4871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목표: 병원 물품 재고 등록·수정·삭제, 재고 부족 모니터링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200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화면 05  ·  화면 17  ·  화면 27  ·  화면 28  ·  화면 29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</a:rPr>
              <a:t>🏥 병원 예약 &amp; 내부 업무 시스템  |  사용자별 스토리보드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2"/>
                </a:solidFill>
              </a:rPr>
              <a:t>📦 물품 담당자  —  화면 여정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병원 물품 재고 등록·수정·삭제, 재고 부족 모니터링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09344"/>
            <a:ext cx="109728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주요 흐름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30936" y="1993392"/>
            <a:ext cx="13716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" y="1993392"/>
            <a:ext cx="13716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05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4944" y="22128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로그인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4944" y="2496312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ADMIN 계정 로그인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02536" y="2377440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67128" y="224942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58568" y="1993392"/>
            <a:ext cx="13716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58568" y="1993392"/>
            <a:ext cx="13716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58568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17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22576" y="22128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관리자 대시보드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22576" y="2496312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재고 부족 건수 확인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30168" y="2377440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24942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86200" y="1993392"/>
            <a:ext cx="13716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86200" y="1993392"/>
            <a:ext cx="13716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27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950208" y="22128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물품 목록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50208" y="2496312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전체 물품 재고 조회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57800" y="2377440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22392" y="224942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13832" y="1993392"/>
            <a:ext cx="13716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13832" y="1993392"/>
            <a:ext cx="13716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28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577840" y="22128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물품 등록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77840" y="2496312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신규 물품 등록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85432" y="2377440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0024" y="224942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41464" y="1993392"/>
            <a:ext cx="13716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41464" y="1993392"/>
            <a:ext cx="13716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41464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29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205472" y="22128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물품 상세·수정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205472" y="2496312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재고 수량·정보 수정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2944368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2944368"/>
            <a:ext cx="9144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" y="30540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84632" y="3447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물품 목록 조회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4632" y="37124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카테고리·재고 부족 여부 필터링, 20건 페이징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108960" y="2944368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0" y="2944368"/>
            <a:ext cx="9144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73552" y="30540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➕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3273552" y="3447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물품 등록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73552" y="37124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품명·카테고리·현재고·최소 수량 신규 등록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97880" y="2944368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897880" y="2944368"/>
            <a:ext cx="9144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30540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6062472" y="3447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재고 수정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062472" y="37124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현재고·최소 수량 수정 — 간호사 대시보드에 즉시 반영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4B5FD"/>
                </a:solidFill>
              </a:rPr>
              <a:t>화면 05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로그인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GET  /login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28D9"/>
                </a:solidFill>
              </a:rPr>
              <a:t>auth/login.mustache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9169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 내부 시스템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" y="2267712"/>
            <a:ext cx="3236976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" y="2395728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직원 로그인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" y="2670048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아이디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52728" y="2670048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9304" y="2670048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admin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7512" y="292608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비밀번호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52728" y="2926080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9304" y="2926080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••••••••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로그인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" y="3547872"/>
            <a:ext cx="3090672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354787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⚠️ 아이디 또는 비밀번호가 올바르지 않습니다. ← ?error 시만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01752" y="400507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🔒 내부 직원 전용 시스템입니다.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⚙️  기능 정의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로그인 처리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POST /login (Spring Security FormLogin 자동 처리)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🔀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ROLE별 리다이렉트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ADMIN → /admin/dashboard · 기타 ROLE → 각 대시보드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실패 메시지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?error 파라미터 → 오류 문구 표시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로그아웃 완료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?logout 파라미터 → 완료 문구 표시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🛡️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이미 로그인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ROLE별 대시보드로 즉시 리다이렉트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791456" y="32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28032" y="32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/login  (Spring Security FormLogin)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315968" y="3509467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0" y="3509467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🏗️  레이아웃 — L3 로그인 전용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315968" y="372160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70832" y="372160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H3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645152" y="372160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로그인 전용 헤더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870448" y="372160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병원 이름만 중앙 표시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370832" y="395203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—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645152" y="395203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사이드바 없음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870448" y="395203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S0 미적용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315968" y="418246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70832" y="418246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—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45152" y="418246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푸터 없음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70448" y="418246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미니멀 로그인 전용 레이아웃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315968" y="4460443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89120" y="4460443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📌  ADMIN 로그인 후 동선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389120" y="4672584"/>
            <a:ext cx="4590288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43984" y="4709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</a:rPr>
              <a:t>로그인 성공 → ROLE_ADMIN 확인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</a:rPr>
              <a:t>→ /admin/dashboard (화면 17) 자동 이동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4B5FD"/>
                </a:solidFill>
              </a:rPr>
              <a:t>화면 17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관리자 대시보드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GET  /admin/dashboard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28D9"/>
                </a:solidFill>
              </a:rPr>
              <a:t>admin/dashboard.mustache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관리자 대시보드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2167128"/>
            <a:ext cx="822960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1762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🏠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" y="21762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74320" y="2569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" y="25694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74320" y="2962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👤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" y="29626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환자관리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320" y="3355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" y="33558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🏥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" y="3749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진료과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274320" y="4142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📦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" y="4142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물품관리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274320" y="4535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📝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" y="45354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1124712" y="2194560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2A42"/>
                </a:solidFill>
              </a:rPr>
              <a:t>📅 2026년 3월 15일 (월)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106424" y="2386584"/>
            <a:ext cx="708660" cy="420624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106424" y="2414016"/>
            <a:ext cx="7086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C3AED"/>
                </a:solidFill>
              </a:rPr>
              <a:t>오늘 예약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1106424" y="2551176"/>
            <a:ext cx="7086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18건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69948" y="2386584"/>
            <a:ext cx="708660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869948" y="2414016"/>
            <a:ext cx="7086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F172A"/>
                </a:solidFill>
              </a:rPr>
              <a:t>총 예약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1869948" y="2551176"/>
            <a:ext cx="7086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1,247건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633472" y="2386584"/>
            <a:ext cx="708660" cy="42062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633472" y="2414016"/>
            <a:ext cx="7086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59669"/>
                </a:solidFill>
              </a:rPr>
              <a:t>직원 수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2633472" y="2551176"/>
            <a:ext cx="7086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12명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396996" y="2386584"/>
            <a:ext cx="70866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396996" y="2414016"/>
            <a:ext cx="7086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DC2626"/>
                </a:solidFill>
              </a:rPr>
              <a:t>재고 부족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3396996" y="2551176"/>
            <a:ext cx="7086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5건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124712" y="2852928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진료과별 예약 현황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124712" y="301752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내과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581912" y="3035808"/>
            <a:ext cx="1850746" cy="128016"/>
          </a:xfrm>
          <a:prstGeom prst="rect">
            <a:avLst/>
          </a:prstGeom>
          <a:solidFill>
            <a:srgbClr val="DDD6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69234" y="3017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C3AED"/>
                </a:solidFill>
              </a:rPr>
              <a:t>432건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1124712" y="320040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외과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581912" y="3218688"/>
            <a:ext cx="1649578" cy="128016"/>
          </a:xfrm>
          <a:prstGeom prst="rect">
            <a:avLst/>
          </a:prstGeom>
          <a:solidFill>
            <a:srgbClr val="DDD6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68066" y="32004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C3AED"/>
                </a:solidFill>
              </a:rPr>
              <a:t>389건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1124712" y="338328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피부과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1581912" y="3401568"/>
            <a:ext cx="925373" cy="128016"/>
          </a:xfrm>
          <a:prstGeom prst="rect">
            <a:avLst/>
          </a:prstGeom>
          <a:solidFill>
            <a:srgbClr val="DDD6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43861" y="33832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C3AED"/>
                </a:solidFill>
              </a:rPr>
              <a:t>218건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1088136" y="3602736"/>
            <a:ext cx="3035808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43000" y="36027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오늘 접수:  접수 대기 8건  /  접수 완료 6건  /  진료 완료 4건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124712" y="3858768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빠른 메뉴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1106424" y="4023360"/>
            <a:ext cx="944880" cy="1828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06424" y="4023360"/>
            <a:ext cx="94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28D9"/>
                </a:solidFill>
              </a:rPr>
              <a:t>예약관리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106168" y="4023360"/>
            <a:ext cx="944880" cy="1828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106168" y="4023360"/>
            <a:ext cx="94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28D9"/>
                </a:solidFill>
              </a:rPr>
              <a:t>물품관리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105912" y="4023360"/>
            <a:ext cx="944880" cy="1828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105912" y="4023360"/>
            <a:ext cx="94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28D9"/>
                </a:solidFill>
              </a:rPr>
              <a:t>규칙관리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통계 카드 4종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오늘예약·총예약·직원수·재고부족건수 (GET /admin/dashboard/stats)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📈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진료과별 예약현황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전체 기간 진료과별 건수 수평 바 표시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오늘 접수 현황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당일 상태별 건수 요약 (접수대기·완료·진료완료)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🚀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빠른 메뉴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주요 관리 화면 바로가기 버튼 (예약·물품·규칙)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315968" y="2827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389120" y="2827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4791456" y="3039466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828032" y="303946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/admin/dashboard/stats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4425696" y="3231490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응답: { todayCount, totalCount, staffCount, lowStockCount, deptStats[], todayIntake }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15968" y="349849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389120" y="349849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🏗️  레이아웃 — L2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315968" y="3710635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370832" y="371063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H2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4645152" y="371063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내부 직원 헤더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5870448" y="371063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로고·메뉴명·로그인명(ADMIN)·[로그아웃]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4370832" y="3941064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S4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4645152" y="3941064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ADMIN 사이드 메뉴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5870448" y="3941064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대시보드(강조)·예약관리·환자관리·직원관리·진료과·물품관리·규칙관리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4315968" y="417149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370832" y="417149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F2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4645152" y="417149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내부 직원 푸터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5870448" y="417149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저작권 표시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4315968" y="4449470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389120" y="4449470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4389120" y="4661611"/>
            <a:ext cx="4590288" cy="49377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443984" y="4698187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pageTitle · today · adminName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stats: { todayCount, totalCount, staffCount, lowStockCount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departmentStats: List&lt;{name,count}&gt;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todayIntake: { waiting, done, treated }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4B5FD"/>
                </a:solidFill>
              </a:rPr>
              <a:t>화면 27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물품 목록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GET  /admin/item/list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28D9"/>
                </a:solidFill>
              </a:rPr>
              <a:t>admin/item-list.mustache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물품 재고 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🏠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" y="21762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569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📋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" y="25694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74320" y="2962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" y="29626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환자관리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74320" y="3355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👥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" y="33558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27432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" y="3749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진료과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28600" y="4133088"/>
            <a:ext cx="822960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142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📦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" y="4142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물품관리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274320" y="4535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📝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" y="45354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3355848" y="1938528"/>
            <a:ext cx="749808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55848" y="1938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+ 물품 등록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1088136" y="2194560"/>
            <a:ext cx="3035808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43000" y="21945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⚠️ 재고 부족 5건 있음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088136" y="2414016"/>
            <a:ext cx="3035808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24712" y="246888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카테고리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545336" y="2468880"/>
            <a:ext cx="201168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63624" y="24688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전체 ▼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801368" y="246888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재고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2221992" y="2468880"/>
            <a:ext cx="7315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40280" y="2468880"/>
            <a:ext cx="36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전체 ▼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124712" y="2596896"/>
            <a:ext cx="10058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167128" y="2596896"/>
            <a:ext cx="384048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67128" y="25968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검색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2587752" y="2596896"/>
            <a:ext cx="40233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87752" y="259689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초기화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124712" y="2816352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총 24건 중 24건 표시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1051560" y="2980944"/>
            <a:ext cx="3108960" cy="17373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1560" y="2980944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물품명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1965960" y="2980944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카테고리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2514600" y="2980944"/>
            <a:ext cx="292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현재고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2807208" y="2980944"/>
            <a:ext cx="292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최소고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3099816" y="2980944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관리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1051560" y="3154680"/>
            <a:ext cx="3108960" cy="256032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51560" y="3154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🔴일회용 주사기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965960" y="3154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의료용품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2514600" y="31546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50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2807208" y="31546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100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108960" y="3172968"/>
            <a:ext cx="27432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08960" y="317296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수정</a:t>
            </a:r>
            <a:endParaRPr lang="en-US" sz="550" dirty="0"/>
          </a:p>
        </p:txBody>
      </p:sp>
      <p:sp>
        <p:nvSpPr>
          <p:cNvPr id="73" name="Shape 71"/>
          <p:cNvSpPr/>
          <p:nvPr/>
        </p:nvSpPr>
        <p:spPr>
          <a:xfrm>
            <a:off x="3108960" y="3291840"/>
            <a:ext cx="27432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108960" y="3291840"/>
            <a:ext cx="274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DC2626"/>
                </a:solidFill>
              </a:rPr>
              <a:t>삭제</a:t>
            </a:r>
            <a:endParaRPr lang="en-US" sz="550" dirty="0"/>
          </a:p>
        </p:txBody>
      </p:sp>
      <p:sp>
        <p:nvSpPr>
          <p:cNvPr id="75" name="Shape 73"/>
          <p:cNvSpPr/>
          <p:nvPr/>
        </p:nvSpPr>
        <p:spPr>
          <a:xfrm>
            <a:off x="1051560" y="3410712"/>
            <a:ext cx="310896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51560" y="3410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혈압계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1965960" y="34107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의료기기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2514600" y="34107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5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2807208" y="34107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2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3108960" y="3429000"/>
            <a:ext cx="27432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108960" y="342900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수정</a:t>
            </a:r>
            <a:endParaRPr lang="en-US" sz="550" dirty="0"/>
          </a:p>
        </p:txBody>
      </p:sp>
      <p:sp>
        <p:nvSpPr>
          <p:cNvPr id="82" name="Shape 80"/>
          <p:cNvSpPr/>
          <p:nvPr/>
        </p:nvSpPr>
        <p:spPr>
          <a:xfrm>
            <a:off x="3108960" y="3547872"/>
            <a:ext cx="27432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108960" y="3547872"/>
            <a:ext cx="274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DC2626"/>
                </a:solidFill>
              </a:rPr>
              <a:t>삭제</a:t>
            </a:r>
            <a:endParaRPr lang="en-US" sz="550" dirty="0"/>
          </a:p>
        </p:txBody>
      </p:sp>
      <p:sp>
        <p:nvSpPr>
          <p:cNvPr id="84" name="Shape 82"/>
          <p:cNvSpPr/>
          <p:nvPr/>
        </p:nvSpPr>
        <p:spPr>
          <a:xfrm>
            <a:off x="1051560" y="3666744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51560" y="36667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알코올 솜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1965960" y="36667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소모품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2514600" y="366674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500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2807208" y="366674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200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3108960" y="3685032"/>
            <a:ext cx="27432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108960" y="36850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수정</a:t>
            </a:r>
            <a:endParaRPr lang="en-US" sz="550" dirty="0"/>
          </a:p>
        </p:txBody>
      </p:sp>
      <p:sp>
        <p:nvSpPr>
          <p:cNvPr id="91" name="Shape 89"/>
          <p:cNvSpPr/>
          <p:nvPr/>
        </p:nvSpPr>
        <p:spPr>
          <a:xfrm>
            <a:off x="3108960" y="3803904"/>
            <a:ext cx="27432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108960" y="3803904"/>
            <a:ext cx="274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DC2626"/>
                </a:solidFill>
              </a:rPr>
              <a:t>삭제</a:t>
            </a:r>
            <a:endParaRPr lang="en-US" sz="550" dirty="0"/>
          </a:p>
        </p:txBody>
      </p:sp>
      <p:sp>
        <p:nvSpPr>
          <p:cNvPr id="93" name="Text 91"/>
          <p:cNvSpPr/>
          <p:nvPr/>
        </p:nvSpPr>
        <p:spPr>
          <a:xfrm>
            <a:off x="1051560" y="395935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[이전]  1 / 2  [다음]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재고 부족 배너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quantity &lt; min_quantity 건수 상단 배너, 없으면 숨김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📦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물품 등록 버튼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헤더 우측 [+ 물품 등록] → /admin/item/new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카테고리 필터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의료용품·의료기기·소모품·전체 → ?category=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재고 상태 필터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부족·정상·전체 → ?stockStatus=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🔴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재고 부족 행 강조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quantity &lt; min_quantity → 빨간색 행 + 🔴 아이콘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✏️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수정 버튼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/admin/item/detail?itemId={id} 이동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4315968" y="3240634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370832" y="3240634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🗑️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4645152" y="3240634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삭제 버튼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5870448" y="3240634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확인 모달 후 POST /admin/item/delete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4370832" y="347106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📄</a:t>
            </a:r>
            <a:endParaRPr lang="en-US" sz="1100" dirty="0"/>
          </a:p>
        </p:txBody>
      </p:sp>
      <p:sp>
        <p:nvSpPr>
          <p:cNvPr id="122" name="Text 120"/>
          <p:cNvSpPr/>
          <p:nvPr/>
        </p:nvSpPr>
        <p:spPr>
          <a:xfrm>
            <a:off x="4645152" y="347106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페이징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5870448" y="347106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20건/페이지 → ?page=0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4315968" y="3749040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389120" y="3749040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4389120" y="3961181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389120" y="3961181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4791456" y="3961181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828032" y="3961181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/admin/item/delete  { itemId }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4315968" y="4200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389120" y="4200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4389120" y="4412894"/>
            <a:ext cx="4590288" cy="49377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443984" y="444947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pageTitle · lowStockCount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items: Page&lt;Inventory&gt;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  ↳ {id, name, category, quantity, minQuantity}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queryParams: {category?, stockStatus?, keyword?, page}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4B5FD"/>
                </a:solidFill>
              </a:rPr>
              <a:t>화면 29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물품 상세·수정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GET  /admin/item/detail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28D9"/>
                </a:solidFill>
              </a:rPr>
              <a:t>admin/item-detail.mustache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물품 상세·수정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🏠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" y="21762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569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📋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" y="25694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74320" y="2962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" y="29626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환자관리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74320" y="3355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👥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" y="33558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27432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" y="3749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진료과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28600" y="4133088"/>
            <a:ext cx="822960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142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📦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" y="4142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물품관리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274320" y="4535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📝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" y="45354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1124712" y="221284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물품명 *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801368" y="2231136"/>
            <a:ext cx="226771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37944" y="223113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일회용 주사기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124712" y="24323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카테고리 *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801368" y="2450592"/>
            <a:ext cx="226771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37944" y="24505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의료용품 ▼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124712" y="26517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현재 수량 *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801368" y="2670048"/>
            <a:ext cx="4572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37944" y="26700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50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276856" y="26700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개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496312" y="2670048"/>
            <a:ext cx="1426464" cy="164592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14600" y="267004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C2626"/>
                </a:solidFill>
              </a:rPr>
              <a:t>🔴 재고 부족 (최소 100개)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1124712" y="28712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최소 수량 *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801368" y="2889504"/>
            <a:ext cx="4572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37944" y="288950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100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2276856" y="2889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개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124712" y="3108960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등록 정보 (읽기 전용) ──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088136" y="3264408"/>
            <a:ext cx="303580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43000" y="32644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등록일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1801368" y="32644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2025-11-01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088136" y="3447288"/>
            <a:ext cx="3035808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43000" y="34472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최종 수정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801368" y="34472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2026-02-15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124712" y="3703320"/>
            <a:ext cx="92659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24712" y="3703320"/>
            <a:ext cx="92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저장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142744" y="3703320"/>
            <a:ext cx="92659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42744" y="3703320"/>
            <a:ext cx="92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삭제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160776" y="3703320"/>
            <a:ext cx="92659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60776" y="3703320"/>
            <a:ext cx="92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1124712" y="39410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물품 목록으로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✏️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물품명·카테고리 수정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변경 후 저장 가능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🔢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현재 수량 수정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수량 직접 입력 변경 (MVP: 입출고 로그 없음)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📏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최소 수량 수정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부족 알림 기준값 변경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🔴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재고 부족 표시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quantity &lt; min_quantity 시 빨간색 경고 + 배지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📅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등록·수정 일자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읽기 전용 표시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저장 성공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완료 toast 표시 (페이지 유지, 리다이렉트 없음)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315968" y="3240634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70832" y="3240634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🗑️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4645152" y="3240634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삭제 버튼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5870448" y="3240634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확인 모달 후 POST /admin/item/delete → 목록 이동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4315968" y="3518611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389120" y="3518611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4389120" y="3730752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389120" y="37307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4791456" y="3730752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828032" y="37307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/admin/item/update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4425696" y="3922776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요청: { itemId, name, category, quantity, minQuantity }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4389120" y="412394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389120" y="41239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4791456" y="412394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828032" y="412394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/admin/item/delete  { itemId }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4425696" y="4315968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삭제 후 → /admin/item/list 리다이렉트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4315968" y="456468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389120" y="456468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🚨  오류 처리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4315968" y="4758538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407408" y="4758538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존재하지 않는 itemId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6300216" y="4758538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404 → /admin/item/list 리다이렉트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4315968" y="4967021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407408" y="4967021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유효성 오류 (음수·필수 누락)</a:t>
            </a:r>
            <a:endParaRPr lang="en-US" sz="750" dirty="0"/>
          </a:p>
        </p:txBody>
      </p:sp>
      <p:sp>
        <p:nvSpPr>
          <p:cNvPr id="119" name="Text 117"/>
          <p:cNvSpPr/>
          <p:nvPr/>
        </p:nvSpPr>
        <p:spPr>
          <a:xfrm>
            <a:off x="6300216" y="4967021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폼 인라인 오류 메시지 표시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4315968" y="5223053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389120" y="5223053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4389120" y="5435194"/>
            <a:ext cx="4590288" cy="42062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443984" y="547177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pageTitle · item: Inventory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  ↳ {id, name, category, quantity, minQuantity,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    createdAt, updatedAt, isLowStock: Boolean}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C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2286000" cy="228600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"/>
            <a:ext cx="2560320" cy="256032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74320"/>
            <a:ext cx="2834640" cy="283464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640080"/>
            <a:ext cx="3108960" cy="310896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1005840"/>
            <a:ext cx="3383280" cy="338328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🛡️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645920" y="10972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관리자 (ADMIN)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4592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ROLE_ADMIN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45920" y="2304288"/>
            <a:ext cx="36576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4871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목표: 병원 전체 시스템 운영 — 예약·직원·진료과·규칙 통합 관리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200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화면 05  ·  화면 17  ·  화면 18  ·  화면 22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사용자별 스토리보드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566928"/>
            <a:ext cx="914400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13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731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A42"/>
                </a:solidFill>
              </a:rPr>
              <a:t>관리자 (ADMIN)  —  화면 여정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12252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1C1C"/>
                </a:solidFill>
              </a:rPr>
              <a:t>병원 전체 시스템 운영 — 예약·직원·진료과·규칙 통합 관리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499616"/>
            <a:ext cx="8631936" cy="2743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B91C1C"/>
                </a:solidFill>
              </a:rPr>
              <a:t>①  접속 → 현황 파악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1865376"/>
            <a:ext cx="1956816" cy="822960"/>
          </a:xfrm>
          <a:prstGeom prst="rect">
            <a:avLst/>
          </a:prstGeom>
          <a:solidFill>
            <a:srgbClr val="B91C1C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920240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</a:rPr>
              <a:t>화면 05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9184" y="208483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로그인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" y="234086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ADMIN 계정 로그인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12848" y="2240280"/>
            <a:ext cx="20116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31136" y="21762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14016" y="1865376"/>
            <a:ext cx="1956816" cy="822960"/>
          </a:xfrm>
          <a:prstGeom prst="rect">
            <a:avLst/>
          </a:prstGeom>
          <a:solidFill>
            <a:srgbClr val="B91C1C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87168" y="1920240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</a:rPr>
              <a:t>화면 17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87168" y="208483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관리자 대시보드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87168" y="234086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전체 현황 파악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70832" y="2240280"/>
            <a:ext cx="20116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21762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1865376"/>
            <a:ext cx="1956816" cy="822960"/>
          </a:xfrm>
          <a:prstGeom prst="rect">
            <a:avLst/>
          </a:prstGeom>
          <a:solidFill>
            <a:srgbClr val="B91C1C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1920240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</a:rPr>
              <a:t>화면 18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45152" y="208483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전체 예약 목록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45152" y="234086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전체 기간 예약 조회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528816" y="2240280"/>
            <a:ext cx="20116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47104" y="21762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29984" y="1865376"/>
            <a:ext cx="1956816" cy="822960"/>
          </a:xfrm>
          <a:prstGeom prst="rect">
            <a:avLst/>
          </a:prstGeom>
          <a:solidFill>
            <a:srgbClr val="B91C1C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03136" y="1920240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</a:rPr>
              <a:t>화면 22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03136" y="208483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직원 목록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03136" y="234086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직원 현황 조회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6032" y="27614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B91C1C"/>
                </a:solidFill>
              </a:rPr>
              <a:t>②  직원 등록 → 규칙·진료과 관리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2999232"/>
            <a:ext cx="1956816" cy="822960"/>
          </a:xfrm>
          <a:prstGeom prst="rect">
            <a:avLst/>
          </a:prstGeom>
          <a:solidFill>
            <a:srgbClr val="B91C1C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" y="305409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</a:rPr>
              <a:t>화면 23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9184" y="321868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직원 등록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9184" y="347472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신규 직원 계정 생성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212848" y="3374136"/>
            <a:ext cx="20116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31136" y="33101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▶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14016" y="2999232"/>
            <a:ext cx="1956816" cy="822960"/>
          </a:xfrm>
          <a:prstGeom prst="rect">
            <a:avLst/>
          </a:prstGeom>
          <a:solidFill>
            <a:srgbClr val="B91C1C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87168" y="305409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</a:rPr>
              <a:t>화면 30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487168" y="321868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규칙 목록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487168" y="347472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병원 규칙 조회·토글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370832" y="3374136"/>
            <a:ext cx="20116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0" y="33101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▶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0" y="2999232"/>
            <a:ext cx="1956816" cy="822960"/>
          </a:xfrm>
          <a:prstGeom prst="rect">
            <a:avLst/>
          </a:prstGeom>
          <a:solidFill>
            <a:srgbClr val="B91C1C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45152" y="305409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</a:rPr>
              <a:t>화면 31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45152" y="321868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규칙 등록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645152" y="347472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새 병원 규칙 등록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528816" y="3374136"/>
            <a:ext cx="20116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47104" y="33101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▶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729984" y="2999232"/>
            <a:ext cx="1956816" cy="822960"/>
          </a:xfrm>
          <a:prstGeom prst="rect">
            <a:avLst/>
          </a:prstGeom>
          <a:solidFill>
            <a:srgbClr val="B91C1C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03136" y="305409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</a:rPr>
              <a:t>화면 25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803136" y="321868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진료과 목록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803136" y="347472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진료과 인라인 등록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56032" y="4133088"/>
            <a:ext cx="283464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FEE2E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6576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768096" y="42245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통합 대시보드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68096" y="4480560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오늘 예약·누적·직원 수·재고 부족 + 진료과별 바 차트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18688" y="4133088"/>
            <a:ext cx="283464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FEE2E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3328416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👔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3730752" y="42245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직원 계정 관리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730752" y="4480560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STAFF·DOCTOR·NURSE·ADMIN 계정 생성·수정·비활성화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181344" y="4133088"/>
            <a:ext cx="283464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FEE2E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291072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📜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6693408" y="42245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병원 규칙 CRUD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693408" y="4480560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규칙 등록 즉시 챗봇 컨텍스트에 반영 (is_active 토글)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</a:rPr>
              <a:t>🏥 병원 예약 &amp; 내부 업무 시스템  |  사용자별 스토리보드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2"/>
                </a:solidFill>
              </a:rPr>
              <a:t>예약 상태 흐름 — 담당자별 전환 책임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각 상태 전이는 지정된 담당 ROLE 하나에서만 처리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09344"/>
            <a:ext cx="1097280" cy="502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28800"/>
            <a:ext cx="173736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828800"/>
            <a:ext cx="173736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RESERVED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2677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담당 ROLE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A42"/>
                </a:solidFill>
              </a:rPr>
              <a:t>비회원·STAFF·ADMIN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2971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전환 조건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31729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온라인 예약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전화 예약 등록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87168" y="26060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880360" y="1828800"/>
            <a:ext cx="173736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80360" y="182880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1828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RECEIVED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71800" y="22677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담당 ROLE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7180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A42"/>
                </a:solidFill>
              </a:rPr>
              <a:t>STAFF (접수처리)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2A42"/>
                </a:solidFill>
              </a:rPr>
              <a:t>STAFF (방문접수)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71800" y="2971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전환 조건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71800" y="31729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→ RESERVED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→ RECEIVED 직행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27448" y="26060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120640" y="1828800"/>
            <a:ext cx="173736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20640" y="182880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828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COMPLETED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22677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담당 ROLE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21208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A42"/>
                </a:solidFill>
              </a:rPr>
              <a:t>DOCTOR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12080" y="2971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전환 조건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212080" y="31729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→ RECEIVED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진료 기록 입력 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67728" y="26060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360920" y="1828800"/>
            <a:ext cx="173736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60920" y="1828800"/>
            <a:ext cx="173736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1828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CANCELLED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52360" y="22677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담당 ROLE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45236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A42"/>
                </a:solidFill>
              </a:rPr>
              <a:t>ADMIN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52360" y="2971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전환 조건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452360" y="31729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→ RESERVED·RECEIVED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취소 처리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3977640"/>
            <a:ext cx="850392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0965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3A5F"/>
                </a:solidFill>
              </a:rPr>
              <a:t>⚠️  충돌 방지 원칙: 동일 상태 전이는 한 ROLE·한 Service에서만 처리  |  타 Role의 Service를 통한 상태 변경 절대 금지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ServiceLayer 규칙: ReceptionService → RECEIVED  ·  TreatmentService → COMPLETED  ·  AdminReservationService → CANCELLED  ·  WalkinService → RECEIVED 직행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의사 (DOCTOR)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3C5FD"/>
                </a:solidFill>
              </a:rPr>
              <a:t>화면 05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로그인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GET  /login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auth/login.mustache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9169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 내부 시스템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" y="2267712"/>
            <a:ext cx="3236976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" y="2395728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직원 로그인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" y="2670048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아이디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52728" y="2670048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9304" y="2670048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kimcs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7512" y="292608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비밀번호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52728" y="2926080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9304" y="2926080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••••••••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로그인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" y="3547872"/>
            <a:ext cx="3090672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354787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⚠️ 아이디 또는 비밀번호가 올바르지 않습니다. ← ?error 시만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01752" y="400507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🔒 내부 직원 전용 시스템입니다.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⚙️  기능 정의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로그인 처리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POST /login (Spring Security FormLogin 자동 처리)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🔀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ROLE별 리다이렉트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DOCTOR → /doctor/dashboard · STAFF → /staff/dashboard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실패 메시지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?error 파라미터 → 오류 문구 표시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로그아웃 완료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?logout 파라미터 → 완료 문구 표시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🛡️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이미 로그인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ROLE별 대시보드로 즉시 리다이렉트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791456" y="32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28032" y="32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/login  (Spring Security FormLogin)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315968" y="3509467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0" y="3509467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🏗️  레이아웃 — L3 로그인 전용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315968" y="372160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70832" y="372160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H3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645152" y="372160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로그인 전용 헤더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870448" y="372160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병원 이름만 중앙 표시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370832" y="395203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—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645152" y="395203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사이드바 없음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870448" y="395203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S0 미적용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315968" y="418246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70832" y="418246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—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45152" y="418246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푸터 없음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70448" y="418246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미니멀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315968" y="4460443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89120" y="4460443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📌  DOCTOR 로그인 후 동선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389120" y="4672584"/>
            <a:ext cx="4590288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43984" y="4709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40AF"/>
                </a:solidFill>
              </a:rPr>
              <a:t>로그인 성공 → ROLE_DOCTOR 확인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40AF"/>
                </a:solidFill>
              </a:rPr>
              <a:t>→ /doctor/dashboard (화면 11) 자동 이동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의사 (DOCTOR)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3C5FD"/>
                </a:solidFill>
              </a:rPr>
              <a:t>화면 11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DOCTOR 대시보드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GET  /doctor/dashboard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doctor/dashboard.mustache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대시보드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김철수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2176272"/>
            <a:ext cx="822960" cy="2926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" y="21945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21945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83464" y="277977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27797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진료목록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83464" y="336499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36499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내 정보관리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83464" y="39502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9502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챗봇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24712" y="2194560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2A42"/>
                </a:solidFill>
              </a:rPr>
              <a:t>📅 2026년 3월 15일 (월)  /  외과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088136" y="2395728"/>
            <a:ext cx="969264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88136" y="2432304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D4ED8"/>
                </a:solidFill>
              </a:rPr>
              <a:t>오늘 진료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088136" y="2578608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8건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121408" y="2395728"/>
            <a:ext cx="969264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121408" y="2432304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97706"/>
                </a:solidFill>
              </a:rPr>
              <a:t>진료 대기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2121408" y="2578608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5건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154680" y="2395728"/>
            <a:ext cx="969264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154680" y="2432304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진료 완료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3154680" y="2578608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3건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124712" y="2898648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오늘 진료 일정 미리보기 (RECEIVED 상위 3건)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051560" y="3054096"/>
            <a:ext cx="3108960" cy="1645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1560" y="305409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시간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1344168" y="30540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환자명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1801368" y="3054096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특이사항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1051560" y="3218688"/>
            <a:ext cx="3108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51560" y="321868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09:00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344168" y="32186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홍길동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801368" y="3218688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고혈압 약 복용 중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051560" y="3438144"/>
            <a:ext cx="3108960" cy="21945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51560" y="343814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09:30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344168" y="34381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이수연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801368" y="3438144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당뇨 이력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051560" y="3657600"/>
            <a:ext cx="3108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51560" y="365760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10:00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344168" y="3657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박민준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801368" y="3657600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—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1088136" y="3931920"/>
            <a:ext cx="3035808" cy="18288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88136" y="3931920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</a:rPr>
              <a:t>▶ 진료 목록 전체 보기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통계 카드 3종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오늘진료·진료대기(RECEIVED)·진료완료(COMPLETED)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 목록 전체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/doctor/treatment/list 이동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챗봇 버튼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H2 우측 고정 → 챗봇 오버레이(C1) 열기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🏥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 일정 미리보기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RECEIVED 상위 3건 + 특이사항 SSR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315968" y="2827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89120" y="2827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🏗️  레이아웃 — L2 (S2 업데이트)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315968" y="303946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70832" y="303946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H2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4645152" y="303946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내부 직원 헤더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870448" y="303946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로고·메뉴명·로그인명·[💬]·[로그아웃]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4370832" y="3269894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S2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4645152" y="3269894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DOCTOR 사이드 메뉴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870448" y="3269894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대시보드(강조)·진료목록·내 정보관리·챗봇열기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315968" y="350032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70832" y="350032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F2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4645152" y="350032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내부 직원 푸터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5870448" y="350032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저작권 표시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4315968" y="3778301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389120" y="3778301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389120" y="3990442"/>
            <a:ext cx="4590288" cy="49377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443984" y="402701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doctorName · department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todayTotal · receivedCount · completedCount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recentTreatments: List&lt;Reservation&gt;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  ↳ {time, patientName, note}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의사 (DOCTOR)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3C5FD"/>
                </a:solidFill>
              </a:rPr>
              <a:t>화면 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오늘 진료 목록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GET  /doctor/treatment/list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doctor/treatment-list.mustache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오늘 진료 목록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김철수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21945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21945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28600" y="2761488"/>
            <a:ext cx="822960" cy="2926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" y="277977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27797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진료목록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83464" y="336499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36499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내 정보관리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83464" y="39502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9502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챗봇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24712" y="2194560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2A42"/>
                </a:solidFill>
              </a:rPr>
              <a:t>📅 2026-03-15  /  외과  /  김철수 전문의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088136" y="2395728"/>
            <a:ext cx="3035808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24712" y="2478024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상태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417320" y="2478024"/>
            <a:ext cx="5486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35608" y="247802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전체 ▼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039112" y="2478024"/>
            <a:ext cx="9144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75688" y="247802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환자명 검색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990088" y="2478024"/>
            <a:ext cx="402336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90088" y="247802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검색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124712" y="2761488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총 8건 중 8건 표시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051560" y="2926080"/>
            <a:ext cx="3108960" cy="1828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51560" y="292608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시간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1344168" y="292608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환자명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1819656" y="29260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특이사항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2642616" y="292608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처리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1051560" y="3108960"/>
            <a:ext cx="3108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51560" y="310896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09:00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344168" y="310896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홍길동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819656" y="31089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고혈압 약 복용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679192" y="3145536"/>
            <a:ext cx="640080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79192" y="31455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40AF"/>
                </a:solidFill>
              </a:rPr>
              <a:t>진료기록 입력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1051560" y="3346704"/>
            <a:ext cx="3108960" cy="2377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1560" y="334670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09:30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344168" y="3346704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박민준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1819656" y="33467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—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2679192" y="3383280"/>
            <a:ext cx="640080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679192" y="33832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40AF"/>
                </a:solidFill>
              </a:rPr>
              <a:t>진료기록 입력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1051560" y="3584448"/>
            <a:ext cx="3108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51560" y="358444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10:00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344168" y="358444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이수연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1819656" y="35844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당뇨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2642616" y="358444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</a:rPr>
              <a:t>✅ 완료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1051560" y="385876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[이전]  1 / 1  [다음]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당일 진료 목록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로그인 의사 담당 / 오늘 날짜 / RECEIVED-COMPLETED 시간 순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상태 필터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RECEIVED·COMPLETED·전체 → ?status=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🔎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환자명 검색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부분 일치 → ?keyword=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✏️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진료기록 입력 버튼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RECEIVED 상태에만 표시 → /doctor/treatment/detail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완료 표시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COMPLETED → '✅ 완료' 텍스트, 버튼 없음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📄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페이징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20건/페이지 → ?page=0 (0-based)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315968" y="3240634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70832" y="3240634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4645152" y="3240634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챗봇 버튼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5870448" y="3240634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헤더 우측 고정 [💬] → C1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4315968" y="3518611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389120" y="3518611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4389120" y="3730752"/>
            <a:ext cx="4590288" cy="45720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443984" y="376732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doctorName · department · today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treatments: Page&lt;Reservation&gt;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  ↳ {time, patient, note, status}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queryParams: {status?, keyword?, page}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의사 (DOCTOR)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3C5FD"/>
                </a:solidFill>
              </a:rPr>
              <a:t>화면 13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진료 기록 입력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GET  /doctor/treatment/detail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doctor/treatment-detail.mustache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진료 기록 입력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김철수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21945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21945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28600" y="2761488"/>
            <a:ext cx="822960" cy="2926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" y="277977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27797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진료목록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83464" y="336499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36499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내 정보관리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83464" y="39502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9502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챗봇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088136" y="2194560"/>
            <a:ext cx="3035808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3000" y="2212848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40AF"/>
                </a:solidFill>
              </a:rPr>
              <a:t>📋 예약 정보 (읽기 전용)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143000" y="235915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09:00  /  외과  /  홍길동  /  특이사항: 고혈압 약 복용 중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24712" y="2560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진단명 *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783080" y="2578608"/>
            <a:ext cx="22860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19656" y="2578608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고혈압성 심질환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124712" y="27797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처방 *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783080" y="2798064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19656" y="281635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혈압강하제 (암로디핀 5mg) 1일 1회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재진 예약: 2주 후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124712" y="3163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비고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783080" y="3182112"/>
            <a:ext cx="2286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19656" y="3200400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저염식 권고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124712" y="3474720"/>
            <a:ext cx="1417320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24712" y="34747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저장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578608" y="3474720"/>
            <a:ext cx="14173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78608" y="34747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예약 정보 표시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시간·진료과·환자명·특이사항 (읽기 전용)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✏️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진단명 입력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필수, 텍스트 입력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💊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처방 입력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필수, textarea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📝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비고 입력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선택, textarea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저장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COMPLETED 상태로 변경 → 목록으로 이동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챗봇 버튼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헤더 우측 [💬] → C1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315968" y="328818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89120" y="328818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389120" y="350032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89120" y="350032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4791456" y="350032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28032" y="350032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/doctor/treatment/save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4425696" y="3692347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요청: { reservationId, diagnosis, prescription, note? }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315968" y="394106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89120" y="394106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🚨  오류 처리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315968" y="4134917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407408" y="4134917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RECEIVED 아닌 예약 접근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6300216" y="4134917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403 → /doctor/treatment/list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4315968" y="4343400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07408" y="4343400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필수 항목 누락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6300216" y="4343400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폼 인라인 오류 메시지 표시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315968" y="459943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89120" y="459943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389120" y="4811573"/>
            <a:ext cx="4590288" cy="42062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443984" y="4848149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doctorName · reservation: Reservation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  ↳ {time, patientName, department, note}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treatmentRecord?: {diagnosis, prescription, note}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의사 (DOCTOR)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3C5FD"/>
                </a:solidFill>
              </a:rPr>
              <a:t>화면 C1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LLM 챗봇 오버레이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JS 오버레이  POST /llm/rules/ask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</a:rPr>
              <a:t>common/chatbot-overlay.js (Vanilla JS)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ROLE_DOCTOR · ROLE_NURSE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9169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" y="2039112"/>
            <a:ext cx="2798064" cy="2734056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88720" y="2039112"/>
            <a:ext cx="2798064" cy="25603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203911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병원 도우미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94176" y="2084832"/>
            <a:ext cx="219456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94176" y="208483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61872" y="2350008"/>
            <a:ext cx="2249424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98448" y="238658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40AF"/>
                </a:solidFill>
              </a:rPr>
              <a:t>[직원]  응급 처치 키트 위치가 어디인가요?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627632" y="2679192"/>
            <a:ext cx="2249424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64208" y="271576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[AI]  3층 간호사 스테이션 좌측 캐비닛에 보관되어 있습니다.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261872" y="3063240"/>
            <a:ext cx="2249424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98448" y="310896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40AF"/>
                </a:solidFill>
              </a:rPr>
              <a:t>[직원]  사용 후 재보충 절차는?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627632" y="3374136"/>
            <a:ext cx="224942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64208" y="341071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[AI]  담당 간호사에게 보고 후 원무과에 신청합니다.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280160" y="373989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⏳ 응답 대기 중...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261872" y="3959352"/>
            <a:ext cx="2157984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98448" y="3959352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질문을 입력하세요...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456432" y="3959352"/>
            <a:ext cx="457200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56432" y="39593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전송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챗봇 열기·닫기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[💬] 클릭 시 오버레이 토글, [✕] 클릭 시 닫기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📤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질문 전송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입력 후 [전송] 또는 Enter → 비동기 POST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🗂️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대화 이력 표시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세션 질문·답변 시간 순, 직원/AI 말풍선 구분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🔄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세션 이력 유지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오버레이 닫았다 열어도 세션 내 이력 유지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⏳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로딩 인디케이터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응답 대기 중 입력창 비활성화 + 스피너 표시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791456" y="32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28032" y="32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/llm/rules/ask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389120" y="3461918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0" y="346191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791456" y="3461918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28032" y="346191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/llm/rules/history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315968" y="3701491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89120" y="3701491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🔐  접근 권한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315968" y="3913632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70832" y="391363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45152" y="391363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접근 권한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70448" y="391363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ROLE_DOCTOR · ROLE_NURSE (STAFF·ADMIN 미노출)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370832" y="4144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💾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645152" y="4144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이력 저장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870448" y="4144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CHATBOT_HISTORY 테이블 세션 단위 저장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의사 (DOCTOR)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3C5FD"/>
                </a:solidFill>
              </a:rPr>
              <a:t>화면 20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내 정보관리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GET  /doctor/mypage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doctor/mypage.mustache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내 정보관리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김철수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29000" y="1938528"/>
            <a:ext cx="310896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3852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21945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21945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83464" y="277977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27797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진료목록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28600" y="3346704"/>
            <a:ext cx="822960" cy="2926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" y="336499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36499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내 정보관리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83464" y="39502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9502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챗봇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24712" y="2194560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기본 정보 ──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088136" y="2350008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" y="235000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이름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837944" y="2350008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김철수 (Dr.)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837944" y="2350008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1088136" y="2542032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2542032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사원 번호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837944" y="2542032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D-20190305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837944" y="2542032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1088136" y="2734056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43000" y="2734056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전문과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837944" y="2734056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외과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837944" y="2734056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1088136" y="2926080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43000" y="2926080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이메일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819656" y="2953512"/>
            <a:ext cx="2249424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56232" y="2953512"/>
            <a:ext cx="2176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kimcs@hospital.kr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088136" y="3118104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43000" y="3118104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연락처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819656" y="3145536"/>
            <a:ext cx="2249424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56232" y="3145536"/>
            <a:ext cx="2176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010-2345-6789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124712" y="3355848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비밀번호 변경 ──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088136" y="3511296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43000" y="3511296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현재 비밀번호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892808" y="3538728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929384" y="353872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••••••••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088136" y="3703320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43000" y="3703320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새 비밀번호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892808" y="3730752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29384" y="3730752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088136" y="3895344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43000" y="3895344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새 비밀번호 확인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892808" y="3922776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29384" y="3922776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1124712" y="4142232"/>
            <a:ext cx="1426464" cy="1920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124712" y="4142232"/>
            <a:ext cx="1426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저장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587752" y="4142232"/>
            <a:ext cx="1426464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587752" y="4142232"/>
            <a:ext cx="1426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124712" y="43708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대시보드로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기본 정보 표시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이름·사원번호·전문과 (읽기 전용)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✉️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이메일 수정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수정 가능, 저장 시 DB 반영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📞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연락처 수정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수정 가능, 저장 시 DB 반영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비밀번호 변경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현재 비밀번호 확인 후 새 비밀번호 설정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저장 성공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완료 toast 표시 (페이지 유지)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4791456" y="32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828032" y="32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/doctor/mypage/update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4425696" y="3461918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요청: { email?, phone?, currentPw?, newPw? }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4315968" y="371063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389120" y="371063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🚨  오류 처리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4315968" y="3904488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407408" y="3904488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현재 비밀번호 불일치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6300216" y="3904488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'현재 비밀번호가 올바르지 않습니다.' 인라인 표시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4315968" y="4160520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389120" y="4160520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4389120" y="4372661"/>
            <a:ext cx="4590288" cy="32918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443984" y="4409237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doctor: Staff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  ↳ {name, employeeNo, department, email, phone}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간호사 (NURSE)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472B6"/>
                </a:solidFill>
              </a:rPr>
              <a:t>화면 05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로그인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72B6"/>
                </a:solidFill>
              </a:rPr>
              <a:t>GET  /login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</a:rPr>
              <a:t>auth/login.mustache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9169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 내부 시스템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" y="2267712"/>
            <a:ext cx="3236976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" y="2395728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직원 로그인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" y="2670048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아이디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52728" y="2670048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9304" y="2670048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lee_nurse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7512" y="292608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비밀번호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52728" y="2926080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9304" y="2926080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••••••••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로그인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" y="3547872"/>
            <a:ext cx="3090672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354787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⚠️ 아이디 또는 비밀번호가 올바르지 않습니다. ← ?error 시만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01752" y="400507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🔒 내부 직원 전용 시스템입니다.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⚙️  기능 정의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로그인 처리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POST /login (Spring Security FormLogin 자동 처리)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🔀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ROLE별 리다이렉트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NURSE → /nurse/dashboard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실패 메시지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?error 파라미터 → 오류 문구 표시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로그아웃 완료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?logout 파라미터 → 완료 문구 표시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315968" y="2827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89120" y="2827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791456" y="3039466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28032" y="303946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/login  (Spring Security FormLogin)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315968" y="327903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0" y="327903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🏗️  레이아웃 — L3 로그인 전용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315968" y="3491179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70832" y="3491179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H3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645152" y="3491179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로그인 전용 헤더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870448" y="3491179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병원 이름만 중앙 표시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370832" y="372160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—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645152" y="372160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사이드바 없음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870448" y="372160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S0 미적용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315968" y="3999586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0" y="399958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📌  NURSE 로그인 후 동선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389120" y="4211726"/>
            <a:ext cx="4590288" cy="347472"/>
          </a:xfrm>
          <a:prstGeom prst="rect">
            <a:avLst/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43984" y="424830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185D"/>
                </a:solidFill>
              </a:rPr>
              <a:t>로그인 성공 → ROLE_NURSE 확인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E185D"/>
                </a:solidFill>
              </a:rPr>
              <a:t>→ /nurse/dashboard (화면 14) 자동 이동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간호사 (NURSE)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472B6"/>
                </a:solidFill>
              </a:rPr>
              <a:t>화면 14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NURSE 대시보드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72B6"/>
                </a:solidFill>
              </a:rPr>
              <a:t>GET  /nurse/dashboard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</a:rPr>
              <a:t>nurse/dashboard.mustache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대시보드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이간호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2176272"/>
            <a:ext cx="822960" cy="292608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" y="21945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21945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83464" y="277977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27797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예약현황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83464" y="336499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36499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내 정보관리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83464" y="39502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9502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챗봇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24712" y="2203704"/>
            <a:ext cx="2962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2A42"/>
                </a:solidFill>
              </a:rPr>
              <a:t>📅 2026년 3월 15일 (월)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106424" y="2404872"/>
            <a:ext cx="704088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106424" y="2441448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오늘 전체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106424" y="2587752"/>
            <a:ext cx="704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18건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865376" y="2404872"/>
            <a:ext cx="704088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865376" y="2441448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97706"/>
                </a:solidFill>
              </a:rPr>
              <a:t>접수 대기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865376" y="2587752"/>
            <a:ext cx="704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8건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624328" y="2404872"/>
            <a:ext cx="704088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624328" y="2441448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진료 대기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2624328" y="2587752"/>
            <a:ext cx="704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6건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383280" y="2404872"/>
            <a:ext cx="704088" cy="457200"/>
          </a:xfrm>
          <a:prstGeom prst="rect">
            <a:avLst/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383280" y="2441448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B2777"/>
                </a:solidFill>
              </a:rPr>
              <a:t>완료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3383280" y="2587752"/>
            <a:ext cx="704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B2777"/>
                </a:solidFill>
              </a:rPr>
              <a:t>4건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106424" y="2907792"/>
            <a:ext cx="2999232" cy="182880"/>
          </a:xfrm>
          <a:prstGeom prst="rect">
            <a:avLst/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06424" y="2907792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E185D"/>
                </a:solidFill>
              </a:rPr>
              <a:t>📋 오늘 예약 현황 전체 보기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124712" y="3127248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진료 대기 중 (RECEIVED 상위 3건)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51560" y="3291840"/>
            <a:ext cx="3108960" cy="1645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51560" y="32918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시간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1344168" y="329184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환자명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746504" y="32918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진료과/의사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2569464" y="329184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특이사항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1051560" y="3456432"/>
            <a:ext cx="31089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1560" y="345643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09:00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1344168" y="345643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홍길동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1746504" y="34564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외과/김철수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2569464" y="345643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고혈압 약 복용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051560" y="3657600"/>
            <a:ext cx="310896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51560" y="36576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09:30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1344168" y="365760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이수연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1746504" y="3657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외과/김철수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2569464" y="365760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당뇨 이력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1088136" y="3913632"/>
            <a:ext cx="3035808" cy="438912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43000" y="395020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⚠️ 재고 부족 2건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1143000" y="41148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일회용 주사기  현재 50개 / 최소 100개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혈당 측정 스트립  현재 20개 / 최소 50개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통계 카드 4종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오늘전체·접수대기·진료대기·완료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예약 현황 전체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/nurse/schedule/list 이동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챗봇 버튼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H2 우측 고정 → 챗봇 오버레이(C1) 열기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🏥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 대기 미리보기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RECEIVED 상위 3건 + 진료과·의사·특이사항 SSR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재고 부족 알림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quantity &lt; min_quantity 항목, 없으면 숨김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🏗️  레이아웃 — L2 (S3 업데이트)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315968" y="3269894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70832" y="3269894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H2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4645152" y="3269894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내부 직원 헤더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5870448" y="3269894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로고·메뉴명·로그인명(NURSE)·[💬]·[로그아웃]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4370832" y="350032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S3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4645152" y="350032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NURSE 사이드 메뉴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5870448" y="350032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대시보드(강조)·예약현황·내 정보관리·챗봇열기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4315968" y="3730752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370832" y="373075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F2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4645152" y="373075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내부 직원 푸터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5870448" y="373075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저작권 표시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4315968" y="4008730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389120" y="4008730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4389120" y="4220870"/>
            <a:ext cx="4590288" cy="49377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443984" y="425744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pageTitle · today · nurseName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todayTotal · reservedCount · receivedCount · completedCount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recentReceived: List&lt;Reservation&gt;  // RECEIVED 상위 3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lowStockItems: List&lt;Inventory&gt;  // quantity &lt; min_quantity</a:t>
            </a:r>
            <a:endParaRPr lang="en-US" sz="7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간호사 (NURSE)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472B6"/>
                </a:solidFill>
              </a:rPr>
              <a:t>화면 15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오늘 예약 현황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72B6"/>
                </a:solidFill>
              </a:rPr>
              <a:t>GET  /nurse/schedule/list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</a:rPr>
              <a:t>nurse/schedule-list.mustache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오늘 예약 현황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이간호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21945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21945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28600" y="2761488"/>
            <a:ext cx="822960" cy="292608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" y="277977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27797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예약현황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83464" y="336499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36499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내 정보관리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83464" y="39502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9502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챗봇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24712" y="2203704"/>
            <a:ext cx="2962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2A42"/>
                </a:solidFill>
              </a:rPr>
              <a:t>📅 2026-03-15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106424" y="2404872"/>
            <a:ext cx="70866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06424" y="2423160"/>
            <a:ext cx="7086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D97706"/>
                </a:solidFill>
              </a:rPr>
              <a:t>RESERVED</a:t>
            </a: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1106424" y="2569464"/>
            <a:ext cx="7086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5건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869948" y="2404872"/>
            <a:ext cx="708660" cy="32918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69948" y="2423160"/>
            <a:ext cx="7086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59669"/>
                </a:solidFill>
              </a:rPr>
              <a:t>RECEIVED</a:t>
            </a:r>
            <a:endParaRPr lang="en-US" sz="550" dirty="0"/>
          </a:p>
        </p:txBody>
      </p:sp>
      <p:sp>
        <p:nvSpPr>
          <p:cNvPr id="45" name="Text 43"/>
          <p:cNvSpPr/>
          <p:nvPr/>
        </p:nvSpPr>
        <p:spPr>
          <a:xfrm>
            <a:off x="1869948" y="2569464"/>
            <a:ext cx="7086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3건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633472" y="2404872"/>
            <a:ext cx="70866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33472" y="2423160"/>
            <a:ext cx="7086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D4ED8"/>
                </a:solidFill>
              </a:rPr>
              <a:t>COMPLETED</a:t>
            </a:r>
            <a:endParaRPr lang="en-US" sz="550" dirty="0"/>
          </a:p>
        </p:txBody>
      </p:sp>
      <p:sp>
        <p:nvSpPr>
          <p:cNvPr id="48" name="Text 46"/>
          <p:cNvSpPr/>
          <p:nvPr/>
        </p:nvSpPr>
        <p:spPr>
          <a:xfrm>
            <a:off x="2633472" y="2569464"/>
            <a:ext cx="7086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4건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396996" y="2404872"/>
            <a:ext cx="708660" cy="329184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96996" y="2423160"/>
            <a:ext cx="7086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DC2626"/>
                </a:solidFill>
              </a:rPr>
              <a:t>CANCELLED</a:t>
            </a:r>
            <a:endParaRPr lang="en-US" sz="550" dirty="0"/>
          </a:p>
        </p:txBody>
      </p:sp>
      <p:sp>
        <p:nvSpPr>
          <p:cNvPr id="51" name="Text 49"/>
          <p:cNvSpPr/>
          <p:nvPr/>
        </p:nvSpPr>
        <p:spPr>
          <a:xfrm>
            <a:off x="3396996" y="2569464"/>
            <a:ext cx="7086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1건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088136" y="2779776"/>
            <a:ext cx="3035808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24712" y="283464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상태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435608" y="2834640"/>
            <a:ext cx="21945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453896" y="28346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전체 ▼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709928" y="283464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진료과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2020824" y="2834640"/>
            <a:ext cx="21945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39112" y="28346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전체 ▼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2295144" y="283464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의사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2606040" y="2834640"/>
            <a:ext cx="21945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624328" y="28346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전체 ▼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124712" y="2962656"/>
            <a:ext cx="109728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58568" y="2962656"/>
            <a:ext cx="402336" cy="14630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58568" y="296265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검색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124712" y="3182112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총 13건 표시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051560" y="3346704"/>
            <a:ext cx="3108960" cy="1828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51560" y="334670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시간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1344168" y="334670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환자명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1819656" y="334670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2221992" y="334670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의사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2624328" y="334670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상태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1051560" y="3529584"/>
            <a:ext cx="3108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51560" y="352958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09:00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344168" y="352958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홍길동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819656" y="352958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외과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2221992" y="352958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김철수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2660904" y="3566160"/>
            <a:ext cx="713232" cy="14630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660904" y="3566160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</a:rPr>
              <a:t>🟢 RECEIVED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1051560" y="3749040"/>
            <a:ext cx="3108960" cy="21945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" y="374904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09:30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1344168" y="374904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이영희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1819656" y="374904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내과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2221992" y="374904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이영수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2660904" y="3785616"/>
            <a:ext cx="713232" cy="14630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660904" y="378561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97706"/>
                </a:solidFill>
              </a:rPr>
              <a:t>🟡 RESERVED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1051560" y="3968496"/>
            <a:ext cx="3108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51560" y="3968496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10:00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1344168" y="396849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박민준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1819656" y="396849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피부과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2221992" y="396849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최지은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2660904" y="4005072"/>
            <a:ext cx="713232" cy="146304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660904" y="400507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</a:rPr>
              <a:t>✅ COMPLETED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1051560" y="422452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[이전]  1 / 1  [다음]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상태별 건수 요약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RESERVED·RECEIVED·COMPLETED·CANCELLED 4종 집계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상태·진료과·의사 필터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드롭다운 → ?status= ?departmentId= ?doctorId=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🔎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환자명 검색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부분 일치 → ?keyword=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🖱️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환자명 클릭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/nurse/patient/detail?patientId={id} 이동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📄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페이징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20건/페이지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4389120" y="3269894"/>
            <a:ext cx="4590288" cy="42062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443984" y="330647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pageTitle · today · stats:{reserved,received,completed,cancelled}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schedules: Page&lt;Reservation&gt;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  ↳ {time, patient, department, doctor, status}</a:t>
            </a:r>
            <a:endParaRPr lang="en-US" sz="7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간호사 (NURSE)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472B6"/>
                </a:solidFill>
              </a:rPr>
              <a:t>화면 16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환자 정보 조회·수정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72B6"/>
                </a:solidFill>
              </a:rPr>
              <a:t>GET  /nurse/patient/detail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</a:rPr>
              <a:t>nurse/patient-detail.mustache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환자 정보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이간호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21945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21945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28600" y="2761488"/>
            <a:ext cx="822960" cy="292608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" y="277977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27797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예약현황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83464" y="336499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36499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내 정보관리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83464" y="39502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9502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챗봇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24712" y="2203704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환자 정보 ──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088136" y="2368296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" y="236829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이름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764792" y="2395728"/>
            <a:ext cx="230428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01368" y="2395728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홍길동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088136" y="2569464"/>
            <a:ext cx="303580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2569464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연락처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764792" y="2596896"/>
            <a:ext cx="230428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01368" y="2596896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010-1234-9999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088136" y="2770632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43000" y="2770632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이메일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783080" y="27706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hong@example.com (수정 불가)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143000" y="297180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특이사항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764792" y="2971800"/>
            <a:ext cx="230428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01368" y="300837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당뇨 이력 있음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고혈압 약 복용 중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124712" y="3374136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오늘 예약 정보 (읽기 전용) ──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88136" y="3538728"/>
            <a:ext cx="303580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43000" y="35387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시간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545336" y="35387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09:00  /  외과  /  김철수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088136" y="3739896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43000" y="373989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상태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1545336" y="3776472"/>
            <a:ext cx="694944" cy="128016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545336" y="3776472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</a:rPr>
              <a:t>🟢 RECEIVED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1124712" y="3977640"/>
            <a:ext cx="1426464" cy="20116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24712" y="397764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저장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660904" y="3977640"/>
            <a:ext cx="1426464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660904" y="397764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✏️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이름·연락처 수정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입력 필드 수정 가능, 저장 시 DB 반영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📝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특이사항 수정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textarea 수정 가능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🔒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이메일 표시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읽기 전용 (수정 불가)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📅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오늘 예약 정보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시간·진료과·의사·상태 (읽기전용)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저장 성공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완료 toast 후 /nurse/schedule/list 이동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4791456" y="32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828032" y="32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/nurse/patient/update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4425696" y="3461918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요청: { patientId, name, phone, note? }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315968" y="371063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89120" y="371063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389120" y="3922776"/>
            <a:ext cx="4590288" cy="38404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443984" y="39593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pageTitle · patient: Patient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todayReservation: Reservation  // nullable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  ↳ {time, department, doctor, status}</a:t>
            </a:r>
            <a:endParaRPr lang="en-US" sz="7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간호사 (NURSE)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472B6"/>
                </a:solidFill>
              </a:rPr>
              <a:t>화면 C1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LLM 챗봇 오버레이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JS 오버레이  POST /llm/rules/ask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E185D"/>
                </a:solidFill>
              </a:rPr>
              <a:t>common/chatbot-overlay.js (Vanilla JS)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ROLE_NURSE · ROLE_DOCTOR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9169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" y="2039112"/>
            <a:ext cx="2798064" cy="2734056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88720" y="2039112"/>
            <a:ext cx="2798064" cy="25603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203911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병원 도우미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94176" y="2084832"/>
            <a:ext cx="219456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94176" y="208483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61872" y="2350008"/>
            <a:ext cx="2249424" cy="310896"/>
          </a:xfrm>
          <a:prstGeom prst="rect">
            <a:avLst/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98448" y="238658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185D"/>
                </a:solidFill>
              </a:rPr>
              <a:t>[직원]  혈당 측정 스트립 재보충 절차가 어떻게 되나요?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627632" y="2697480"/>
            <a:ext cx="2249424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64208" y="273405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[AI]  원무과 물품 신청서를 작성 후 수간호사 결재를 받아 진행하면 됩니다.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280160" y="3118104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⏳ 응답 대기 중...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261872" y="3337560"/>
            <a:ext cx="2157984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98448" y="333756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질문을 입력하세요...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456432" y="3337560"/>
            <a:ext cx="457200" cy="20116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56432" y="33375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전송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챗봇 열기·닫기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[💬] 클릭 시 오버레이 토글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📤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질문 전송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입력 후 [전송] → 비동기 POST /llm/rules/ask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🔄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세션 이력 유지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오버레이 닫았다 열어도 유지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⏳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로딩 인디케이터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대기 중 입력창 비활성화 + 스피너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315968" y="2827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0" y="2827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791456" y="3039466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28032" y="303946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/llm/rules/ask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389120" y="3231490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0" y="323149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791456" y="3231490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28032" y="323149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/llm/rules/history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315968" y="347106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89120" y="347106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🔐  접근 권한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315968" y="368320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370832" y="368320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645152" y="368320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접근 권한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870448" y="368320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ROLE_DOCTOR · ROLE_NURSE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370832" y="391363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💾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645152" y="391363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이력 저장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870448" y="391363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CHATBOT_HISTORY 세션 단위 저장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간호사 (NURSE)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472B6"/>
                </a:solidFill>
              </a:rPr>
              <a:t>화면 21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내 정보관리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72B6"/>
                </a:solidFill>
              </a:rPr>
              <a:t>GET  /nurse/mypage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</a:rPr>
              <a:t>nurse/mypage.mustache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내 정보관리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이간호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29000" y="1938528"/>
            <a:ext cx="310896" cy="16459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3852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21945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21945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83464" y="277977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27797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예약현황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28600" y="3346704"/>
            <a:ext cx="822960" cy="292608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" y="336499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36499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내 정보관리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83464" y="39502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9502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챗봇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24712" y="2194560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기본 정보 ──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088136" y="2350008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" y="235000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이름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837944" y="2350008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이간호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837944" y="2350008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1088136" y="2542032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2542032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사원 번호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837944" y="2542032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N-20210812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837944" y="2542032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1088136" y="2734056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43000" y="2734056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부서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837944" y="2734056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3병동 간호팀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837944" y="2734056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1088136" y="2926080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43000" y="2926080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이메일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819656" y="2953512"/>
            <a:ext cx="2249424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56232" y="2953512"/>
            <a:ext cx="2176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leegan@hospital.kr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088136" y="3118104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43000" y="3118104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연락처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819656" y="3145536"/>
            <a:ext cx="2249424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56232" y="3145536"/>
            <a:ext cx="2176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010-9876-5432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124712" y="3355848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비밀번호 변경 ──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088136" y="3511296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43000" y="3511296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현재 비밀번호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892808" y="3538728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929384" y="353872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••••••••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088136" y="3703320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43000" y="3703320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새 비밀번호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892808" y="3730752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29384" y="3730752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088136" y="3895344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43000" y="3895344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새 비밀번호 확인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892808" y="3922776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29384" y="3922776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1124712" y="4142232"/>
            <a:ext cx="1426464" cy="19202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124712" y="4142232"/>
            <a:ext cx="1426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저장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587752" y="4142232"/>
            <a:ext cx="1426464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587752" y="4142232"/>
            <a:ext cx="1426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124712" y="43708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대시보드로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기본 정보 표시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이름·사원번호·부서 (읽기 전용)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✉️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이메일 수정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수정 가능, 저장 시 DB 반영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📞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연락처 수정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수정 가능, 저장 시 DB 반영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비밀번호 변경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현재 비밀번호 확인 후 새 비밀번호 설정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저장 성공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완료 toast 표시 (페이지 유지)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4791456" y="32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828032" y="32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/nurse/mypage/update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4425696" y="3461918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요청: { email?, phone?, currentPw?, newPw? }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4315968" y="371063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389120" y="371063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🚨  오류 처리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4315968" y="3904488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407408" y="3904488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현재 비밀번호 불일치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6300216" y="3904488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'현재 비밀번호가 올바르지 않습니다.' 인라인 표시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4315968" y="4160520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389120" y="4160520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4389120" y="4372661"/>
            <a:ext cx="4590288" cy="32918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443984" y="4409237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pageTitle · nurse: Staff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  ↳ {name, employeeNo, department, email, phone}</a:t>
            </a:r>
            <a:endParaRPr lang="en-US" sz="7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물품 담당자 (ITEM_MANAGER)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4B5FD"/>
                </a:solidFill>
              </a:rPr>
              <a:t>화면 05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로그인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B5FD"/>
                </a:solidFill>
              </a:rPr>
              <a:t>GET  /login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</a:rPr>
              <a:t>auth/login.mustache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9169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 내부 시스템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" y="2267712"/>
            <a:ext cx="3236976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" y="2395728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직원 로그인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" y="2670048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아이디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52728" y="2670048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9304" y="2670048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item_mgr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7512" y="292608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비밀번호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52728" y="2926080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9304" y="2926080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••••••••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로그인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" y="3547872"/>
            <a:ext cx="3090672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354787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⚠️ 아이디 또는 비밀번호가 올바르지 않습니다. ← ?error 시만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01752" y="400507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🔒 내부 직원 전용 시스템입니다.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⚙️  기능 정의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로그인 처리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POST /login (Spring Security FormLogin 자동 처리)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🔀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ROLE별 리다이렉트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ITEM_MANAGER → /item/dashboard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실패 메시지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?error 파라미터 → 오류 문구 표시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🛡️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이미 로그인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역할별 대시보드로 즉시 리다이렉트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315968" y="2827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89120" y="2827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791456" y="3039466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28032" y="303946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/login  (Spring Security FormLogin)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315968" y="327903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0" y="327903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📌  ITEM_MANAGER 로그인 후 동선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389120" y="3491179"/>
            <a:ext cx="4590288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43984" y="3527755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</a:rPr>
              <a:t>로그인 성공 → ROLE_ITEM_MANAGER 확인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</a:rPr>
              <a:t>→ /item/dashboard (화면 17) 자동 이동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</a:rPr>
              <a:t>사이드 메뉴: 카테고리 관리 · 물품관리 · 내 정보관리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물품 담당자 (ITEM_MANAGER)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4B5FD"/>
                </a:solidFill>
              </a:rPr>
              <a:t>화면 17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물품 담당자 대시보드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B5FD"/>
                </a:solidFill>
              </a:rPr>
              <a:t>GET  /item/dashboard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</a:rPr>
              <a:t>item/dashboard.mustache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대시보드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" y="22311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🏷️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22311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카테고리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28600" y="2944368"/>
            <a:ext cx="82296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" y="296265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📦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296265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물품관리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83464" y="369417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36941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내 정보관리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124712" y="2194560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2A42"/>
                </a:solidFill>
              </a:rPr>
              <a:t>📅 2026년 3월 15일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088136" y="2386584"/>
            <a:ext cx="969264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88136" y="2423160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</a:rPr>
              <a:t>전체 물품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1088136" y="256946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24종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121408" y="2386584"/>
            <a:ext cx="969264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121408" y="2423160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</a:rPr>
              <a:t>재고 부족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2121408" y="256946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5건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154680" y="2386584"/>
            <a:ext cx="969264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154680" y="2423160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카테고리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3154680" y="256946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3종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124712" y="2889504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재고 부족 물품 알림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051560" y="3054096"/>
            <a:ext cx="3108960" cy="1645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51560" y="30540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물품명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1965960" y="305409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카테고리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2514600" y="305409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현재고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807208" y="305409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최소고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3099816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부족량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1051560" y="3218688"/>
            <a:ext cx="3108960" cy="237744"/>
          </a:xfrm>
          <a:prstGeom prst="rect">
            <a:avLst/>
          </a:prstGeom>
          <a:solidFill>
            <a:srgbClr val="FFF1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51560" y="32186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🔴 일회용 주사기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965960" y="32186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의료용품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2514600" y="321868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50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2807208" y="321868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100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099816" y="321868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-50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051560" y="3456432"/>
            <a:ext cx="3108960" cy="23774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51560" y="34564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🔴 혈당 스트립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965960" y="34564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소모품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2514600" y="345643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20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2807208" y="345643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50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3099816" y="345643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-30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1106424" y="3749040"/>
            <a:ext cx="1453896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06424" y="3749040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+ 물품 등록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651760" y="3749040"/>
            <a:ext cx="145389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51760" y="3749040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 물품 목록 보기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통계 카드 3종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전체물품 수·재고부족 건수·카테고리 수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재고 부족 목록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quantity &lt; min_quantity 물품 상위 표시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🏷️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카테고리 관리 이동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/item/category/list (S5 상단 메뉴)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📦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물품 등록 버튼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/item/new 이동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315968" y="2827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89120" y="2827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🏗️  레이아웃 — L2 (S5 전용 사이드바)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315968" y="303946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70832" y="303946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H2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4645152" y="303946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내부 직원 헤더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870448" y="303946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로고·메뉴명·로그인명(ITEM_MGR)·[로그아웃]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4370832" y="3269894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S5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4645152" y="3269894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ITEM_MANAGER 전용 메뉴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870448" y="3269894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카테고리 관리·물품관리(강조)·내 정보관리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315968" y="350032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70832" y="350032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F2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4645152" y="350032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내부 직원 푸터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5870448" y="350032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저작권 표시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4315968" y="3778301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389120" y="3778301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389120" y="3990442"/>
            <a:ext cx="4590288" cy="49377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443984" y="402701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pageTitle · managerName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totalItems · lowStockCount · categoryCount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lowStockItems: List&lt;Inventory&gt;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  ↳ {name, category, quantity, minQuantity}</a:t>
            </a:r>
            <a:endParaRPr lang="en-US" sz="7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물품 담당자 (ITEM_MANAGER)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4B5FD"/>
                </a:solidFill>
              </a:rPr>
              <a:t>화면 27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물품 목록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B5FD"/>
                </a:solidFill>
              </a:rPr>
              <a:t>GET  /item/list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</a:rPr>
              <a:t>item/item-list.mustache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물품 재고 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" y="22311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🏷️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22311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카테고리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28600" y="2944368"/>
            <a:ext cx="82296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" y="296265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📦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296265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물품관리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83464" y="369417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36941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내 정보관리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3355848" y="1938528"/>
            <a:ext cx="749808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55848" y="1938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+ 물품 등록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088136" y="2194560"/>
            <a:ext cx="3035808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43000" y="21945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⚠️ 재고 부족 5건 있음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088136" y="2414016"/>
            <a:ext cx="3035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3000" y="24505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카테고리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618488" y="2450592"/>
            <a:ext cx="5486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36776" y="2450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전체 ▼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240280" y="24505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재고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532888" y="2450592"/>
            <a:ext cx="5486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51176" y="2450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전체 ▼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088136" y="2688336"/>
            <a:ext cx="3035808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43000" y="2715768"/>
            <a:ext cx="135331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79576" y="271576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물품명 검색...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532888" y="2715768"/>
            <a:ext cx="45720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32888" y="27157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검색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026664" y="2715768"/>
            <a:ext cx="4572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26664" y="27157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초기화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124712" y="2944368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총 24건 중 24건 표시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051560" y="3108960"/>
            <a:ext cx="3108960" cy="17373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51560" y="3108960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물품명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1965960" y="3108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카테고리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2514600" y="3108960"/>
            <a:ext cx="292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현재고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2807208" y="3108960"/>
            <a:ext cx="292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최소고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3099816" y="3108960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관리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1051560" y="3282696"/>
            <a:ext cx="3108960" cy="23774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1560" y="3282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🔴 일회용 주사기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965960" y="328269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의료용품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514600" y="328269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50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807208" y="328269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100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108960" y="3300984"/>
            <a:ext cx="274320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08960" y="3300984"/>
            <a:ext cx="274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수정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3108960" y="3410712"/>
            <a:ext cx="27432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08960" y="341071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DC2626"/>
                </a:solidFill>
              </a:rPr>
              <a:t>삭제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1051560" y="3520440"/>
            <a:ext cx="3108960" cy="2377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51560" y="35204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혈압계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1965960" y="35204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의료기기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2514600" y="352044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5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2807208" y="352044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2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3108960" y="3538728"/>
            <a:ext cx="274320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08960" y="3538728"/>
            <a:ext cx="274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수정</a:t>
            </a:r>
            <a:endParaRPr lang="en-US" sz="550" dirty="0"/>
          </a:p>
        </p:txBody>
      </p:sp>
      <p:sp>
        <p:nvSpPr>
          <p:cNvPr id="76" name="Shape 74"/>
          <p:cNvSpPr/>
          <p:nvPr/>
        </p:nvSpPr>
        <p:spPr>
          <a:xfrm>
            <a:off x="3108960" y="3648456"/>
            <a:ext cx="27432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108960" y="364845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DC2626"/>
                </a:solidFill>
              </a:rPr>
              <a:t>삭제</a:t>
            </a:r>
            <a:endParaRPr lang="en-US" sz="550" dirty="0"/>
          </a:p>
        </p:txBody>
      </p:sp>
      <p:sp>
        <p:nvSpPr>
          <p:cNvPr id="78" name="Shape 76"/>
          <p:cNvSpPr/>
          <p:nvPr/>
        </p:nvSpPr>
        <p:spPr>
          <a:xfrm>
            <a:off x="1051560" y="3758184"/>
            <a:ext cx="3108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51560" y="37581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알코올 솜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1965960" y="37581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소모품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14600" y="375818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500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807208" y="375818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200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3108960" y="3776472"/>
            <a:ext cx="274320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108960" y="3776472"/>
            <a:ext cx="274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수정</a:t>
            </a:r>
            <a:endParaRPr lang="en-US" sz="550" dirty="0"/>
          </a:p>
        </p:txBody>
      </p:sp>
      <p:sp>
        <p:nvSpPr>
          <p:cNvPr id="85" name="Shape 83"/>
          <p:cNvSpPr/>
          <p:nvPr/>
        </p:nvSpPr>
        <p:spPr>
          <a:xfrm>
            <a:off x="3108960" y="3886200"/>
            <a:ext cx="27432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108960" y="38862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DC2626"/>
                </a:solidFill>
              </a:rPr>
              <a:t>삭제</a:t>
            </a:r>
            <a:endParaRPr lang="en-US" sz="550" dirty="0"/>
          </a:p>
        </p:txBody>
      </p:sp>
      <p:sp>
        <p:nvSpPr>
          <p:cNvPr id="87" name="Text 85"/>
          <p:cNvSpPr/>
          <p:nvPr/>
        </p:nvSpPr>
        <p:spPr>
          <a:xfrm>
            <a:off x="1051560" y="4032504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[이전]  1 / 2  [다음]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재고 부족 배너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quantity &lt; min_quantity 건수 배너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📦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물품 등록 버튼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헤더 우측 [+ 물품 등록] → /item/new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🏷️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카테고리 필터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카테고리별 필터링 → ?category=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재고 상태 필터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부족·정상·전체 → ?stockStatus=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물품명 검색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?keyword=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🔴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재고 부족 행 강조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quantity &lt; min_quantity → 빨간색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4315968" y="3240634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370832" y="3240634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✏️</a:t>
            </a:r>
            <a:endParaRPr lang="en-US" sz="1100" dirty="0"/>
          </a:p>
        </p:txBody>
      </p:sp>
      <p:sp>
        <p:nvSpPr>
          <p:cNvPr id="113" name="Text 111"/>
          <p:cNvSpPr/>
          <p:nvPr/>
        </p:nvSpPr>
        <p:spPr>
          <a:xfrm>
            <a:off x="4645152" y="3240634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수정/삭제 버튼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5870448" y="3240634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/item/detail 이동 / POST /item/delete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4315968" y="3518611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389120" y="3518611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4389120" y="3730752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389120" y="37307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4791456" y="3730752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828032" y="37307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/item/delete  { itemId }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4315968" y="3970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389120" y="3970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4389120" y="4182466"/>
            <a:ext cx="4590288" cy="38404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443984" y="421904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pageTitle · lowStockCount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items: Page&lt;Inventory&gt;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  ↳ {id, name, category, quantity, minQuantity}</a:t>
            </a:r>
            <a:endParaRPr lang="en-US" sz="7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물품 담당자 (ITEM_MANAGER)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4B5FD"/>
                </a:solidFill>
              </a:rPr>
              <a:t>화면 29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물품 상세·수정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B5FD"/>
                </a:solidFill>
              </a:rPr>
              <a:t>GET  /item/detail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</a:rPr>
              <a:t>item/item-detail.mustache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물품 상세·수정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" y="22311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🏷️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22311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카테고리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28600" y="2944368"/>
            <a:ext cx="82296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" y="296265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📦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296265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물품관리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83464" y="369417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36941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내 정보관리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124712" y="221284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물품명 *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01368" y="2231136"/>
            <a:ext cx="226771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37944" y="223113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일회용 주사기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24712" y="24323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카테고리 *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801368" y="2450592"/>
            <a:ext cx="226771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37944" y="24505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의료용품 ▼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24712" y="26517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현재 수량 *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801368" y="2670048"/>
            <a:ext cx="4572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37944" y="26700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50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276856" y="26700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개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496312" y="2670048"/>
            <a:ext cx="1426464" cy="164592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14600" y="267004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C2626"/>
                </a:solidFill>
              </a:rPr>
              <a:t>🔴 재고 부족 (최소 100개)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1124712" y="28712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최소 수량 *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801368" y="2889504"/>
            <a:ext cx="4572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37944" y="288950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100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276856" y="2889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개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124712" y="3108960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등록 정보 (읽기 전용) ──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088136" y="3264408"/>
            <a:ext cx="303580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43000" y="32644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등록일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801368" y="32644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2025-11-01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088136" y="3447288"/>
            <a:ext cx="3035808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43000" y="34472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최종 수정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801368" y="34472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2026-02-15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124712" y="3703320"/>
            <a:ext cx="92659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24712" y="3703320"/>
            <a:ext cx="92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저장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142744" y="3703320"/>
            <a:ext cx="92659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42744" y="3703320"/>
            <a:ext cx="92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삭제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160776" y="3703320"/>
            <a:ext cx="92659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60776" y="3703320"/>
            <a:ext cx="92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124712" y="39410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물품 목록으로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✏️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물품명·카테고리 수정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변경 후 저장 가능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🔢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현재 수량 수정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직접 입력 변경 (MVP: 입출고 로그 없음)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📏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최소 수량 수정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부족 알림 기준값 변경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🔴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재고 부족 표시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quantity &lt; min_quantity → 빨간색 경고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저장 성공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완료 toast 표시 (페이지 유지)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🗑️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삭제 버튼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확인 모달 후 POST /item/delete → 목록 이동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315968" y="328818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89120" y="328818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389120" y="350032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89120" y="350032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791456" y="350032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828032" y="350032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/item/update  { itemId, name, category, quantity, minQuantity }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389120" y="3692347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89120" y="3692347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791456" y="3692347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828032" y="3692347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/item/delete  { itemId }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15968" y="3931920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389120" y="3931920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389120" y="4144061"/>
            <a:ext cx="4590288" cy="38404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443984" y="4180637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pageTitle · item: Inventory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  ↳ {id, name, category, quantity, minQuantity,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    createdAt, updatedAt, isLowStock}</a:t>
            </a:r>
            <a:endParaRPr lang="en-US" sz="7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물품 담당자 (ITEM_MANAGER)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4B5FD"/>
                </a:solidFill>
              </a:rPr>
              <a:t>화면 31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물품 담당자 내 정보관리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B5FD"/>
                </a:solidFill>
              </a:rPr>
              <a:t>GET  /item/mypage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</a:rPr>
              <a:t>item/mypage.mustache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내 정보관리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" y="22311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🏷️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22311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카테고리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83464" y="296265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📦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296265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물품관리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28600" y="3675888"/>
            <a:ext cx="82296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" y="369417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36941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내 정보관리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124712" y="2194560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기본 정보 ──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088136" y="2350008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43000" y="235000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이름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837944" y="2350008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김담당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837944" y="2350008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088136" y="2542032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" y="2542032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사원 번호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837944" y="2542032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I-20220601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837944" y="2542032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1088136" y="2734056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2734056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담당 업무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837944" y="2734056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병원 물품 재고 관리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837944" y="2734056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1088136" y="2926080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43000" y="2926080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이메일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819656" y="2953512"/>
            <a:ext cx="2249424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56232" y="2953512"/>
            <a:ext cx="2176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kimdm@hospital.kr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088136" y="3118104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43000" y="3118104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연락처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819656" y="3145536"/>
            <a:ext cx="2249424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56232" y="3145536"/>
            <a:ext cx="2176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010-5678-1234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124712" y="3355848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비밀번호 변경 ──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88136" y="3511296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43000" y="3511296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현재 비밀번호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892808" y="3538728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929384" y="353872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••••••••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088136" y="3703320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43000" y="3703320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새 비밀번호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892808" y="3730752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929384" y="3730752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088136" y="3895344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43000" y="3895344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새 비밀번호 확인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892808" y="3922776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29384" y="3922776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124712" y="4142232"/>
            <a:ext cx="1426464" cy="1920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24712" y="4142232"/>
            <a:ext cx="1426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저장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587752" y="4142232"/>
            <a:ext cx="1426464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587752" y="4142232"/>
            <a:ext cx="1426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124712" y="43708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대시보드로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기본 정보 표시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이름·사원번호·담당업무 (읽기 전용)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✉️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이메일 수정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수정 가능, 저장 시 DB 반영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📞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연락처 수정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수정 가능, 저장 시 DB 반영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비밀번호 변경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현재 비밀번호 확인 후 새 비밀번호 설정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저장 성공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완료 toast 표시 (페이지 유지)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791456" y="32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828032" y="32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/item/mypage/update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4425696" y="3461918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요청: { email?, phone?, currentPw?, newPw? }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4315968" y="371063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389120" y="371063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🏗️  S5 전용 사이드바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4389120" y="3922776"/>
            <a:ext cx="4590288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443984" y="3977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</a:rPr>
              <a:t>S5 (ITEM_MANAGER 전용)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</a:rPr>
              <a:t>카테고리 관리 · 물품관리 · 내 정보관리(강조)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4315968" y="4464101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389120" y="4464101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4389120" y="4676242"/>
            <a:ext cx="4590288" cy="32918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443984" y="471281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pageTitle · manager: Staff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  ↳ {name, employeeNo, role, email, phone}</a:t>
            </a:r>
            <a:endParaRPr lang="en-US" sz="7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접수 직원 (STAFF)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CD34D"/>
                </a:solidFill>
              </a:rPr>
              <a:t>화면 40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내 정보관리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D34D"/>
                </a:solidFill>
              </a:rPr>
              <a:t>GET  /staff/mypage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</a:rPr>
              <a:t>staff/mypage.mustache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내 정보관리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홍담당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접수 목록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📞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전화 예약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🚶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방문 접수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28600" y="3986784"/>
            <a:ext cx="82296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내 정보관리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24712" y="2194560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기본 정보 ──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088136" y="2350008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" y="235000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이름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837944" y="2350008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홍담당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837944" y="2350008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1088136" y="2542032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2542032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사원 번호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837944" y="2542032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S-20230401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837944" y="2542032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1088136" y="2734056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43000" y="2734056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담당 업무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837944" y="2734056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접수 처리 · 전화 예약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837944" y="2734056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1088136" y="2926080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43000" y="2926080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이메일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819656" y="2953512"/>
            <a:ext cx="2249424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56232" y="2953512"/>
            <a:ext cx="2176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hong@hospital.kr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088136" y="3118104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43000" y="3118104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연락처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819656" y="3145536"/>
            <a:ext cx="2249424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56232" y="3145536"/>
            <a:ext cx="2176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010-1234-5678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124712" y="3355848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비밀번호 변경 ──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088136" y="3511296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43000" y="3511296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현재 비밀번호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892808" y="3538728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929384" y="353872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••••••••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088136" y="3703320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43000" y="3703320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새 비밀번호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892808" y="3730752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29384" y="3730752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088136" y="3895344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43000" y="3895344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새 비밀번호 확인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892808" y="3922776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29384" y="3922776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1124712" y="4142232"/>
            <a:ext cx="1426464" cy="1920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124712" y="4142232"/>
            <a:ext cx="1426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저장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587752" y="4142232"/>
            <a:ext cx="1426464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587752" y="4142232"/>
            <a:ext cx="1426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124712" y="43708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대시보드로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기본 정보 표시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이름·사원번호·담당업무 (읽기 전용)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✉️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이메일 수정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수정 가능, 저장 시 DB 반영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📞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연락처 수정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수정 가능, 저장 시 DB 반영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비밀번호 변경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현재 비밀번호 확인 후 새 비밀번호 설정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저장 성공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완료 toast 표시 (페이지 유지)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4791456" y="32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828032" y="32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/staff/mypage/update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4425696" y="3461918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요청: { email?, phone?, currentPw?, newPw? }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4315968" y="371063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389120" y="371063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🚨  오류 처리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4315968" y="3904488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407408" y="3904488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현재 비밀번호 불일치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6300216" y="3904488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'현재 비밀번호가 올바르지 않습니다.' 인라인 표시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4315968" y="4112971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407408" y="4112971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이메일 형식 오류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6300216" y="4112971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폼 인라인 유효성 메시지 표시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4315968" y="4369003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389120" y="4369003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🏗️  S1 사이드바 메뉴 변경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4389120" y="4581144"/>
            <a:ext cx="4590288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443984" y="463600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A580C"/>
                </a:solidFill>
              </a:rPr>
              <a:t>S1 업데이트 (v2.0)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A580C"/>
                </a:solidFill>
              </a:rPr>
              <a:t>대시보드 · 접수목록 · 전화예약 · 방문접수 · 내 정보관리(강조)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4315968" y="5195621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389120" y="5195621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4389120" y="5407762"/>
            <a:ext cx="4590288" cy="32918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443984" y="544433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staff: Staff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  ↳ {name, employeeNo, role, email, phone}</a:t>
            </a:r>
            <a:endParaRPr lang="en-US" sz="7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화면 05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로그인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GET  /login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login.mustache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9169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 내부 시스템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" y="2267712"/>
            <a:ext cx="3236976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" y="2395728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직원 로그인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" y="2670048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아이디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52728" y="2670048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9304" y="2670048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admin01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7512" y="292608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비밀번호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52728" y="2926080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9304" y="2926080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••••••••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로그인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" y="3547872"/>
            <a:ext cx="3090672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354787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C2626"/>
                </a:solidFill>
              </a:rPr>
              <a:t>⚠️ 아이디 또는 비밀번호가 올바르지 않습니다. (←?error 파라미터 시만 표시)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301752" y="400507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🔒 내부 직원 전용 시스템입니다.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315968" y="183977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70832" y="183977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🔐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45152" y="183977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인증 처리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70448" y="183977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ADMIN 계정 아이디·비밀번호 검증 후 세션 생성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370832" y="207020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🛡️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45152" y="207020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권한 체크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70448" y="207020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ROLE_ADMIN만 허용 / 타 역할 로그인 차단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315968" y="230063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70832" y="230063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645152" y="230063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오류 표시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870448" y="230063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자격증명 불일치 시 ?error 리다이렉트 → 인라인 표시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315968" y="25786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0" y="25786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791456" y="275417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28032" y="275417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/auth/login  { username, password }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315968" y="2993746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0" y="299374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🔴  오류 처리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315968" y="3169310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07408" y="3169310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자격증명 불일치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300216" y="3169310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?error 쿼리 파라미터로 리다이렉트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315968" y="3425342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0" y="342534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389120" y="3600907"/>
            <a:ext cx="4590288" cy="20116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443984" y="3637483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error? : String  (오류 메시지)</a:t>
            </a:r>
            <a:endParaRPr lang="en-US" sz="7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화면 17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관리자 대시보드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GET  /admin/dashboard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admin/dashboard.mustache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대시보드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2157984"/>
            <a:ext cx="822960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진료과관리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06424" y="21945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A42"/>
                </a:solidFill>
              </a:rPr>
              <a:t>📅 2026년 3월 15일 (월)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06424" y="2377440"/>
            <a:ext cx="73609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106424" y="2414016"/>
            <a:ext cx="736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18건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106424" y="2633472"/>
            <a:ext cx="7360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오늘 예약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1860804" y="2377440"/>
            <a:ext cx="73609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860804" y="2414016"/>
            <a:ext cx="736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1,247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860804" y="2633472"/>
            <a:ext cx="7360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총 예약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2615184" y="2377440"/>
            <a:ext cx="73609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615184" y="2414016"/>
            <a:ext cx="736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</a:rPr>
              <a:t>12명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615184" y="2633472"/>
            <a:ext cx="7360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직원 수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3369564" y="2377440"/>
            <a:ext cx="73609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369564" y="2414016"/>
            <a:ext cx="736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5건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369564" y="2633472"/>
            <a:ext cx="7360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재고 부족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1106424" y="2834640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진료과별 예약 현황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106424" y="2980944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내과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1527048" y="2999232"/>
            <a:ext cx="1566916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76472" y="2980944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432건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1106424" y="3127248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외과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527048" y="3145536"/>
            <a:ext cx="141457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76472" y="312724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389건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1106424" y="327355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피부과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1527048" y="3291840"/>
            <a:ext cx="783458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76472" y="3273552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218건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1106424" y="3456432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빠른 메뉴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1106424" y="3602736"/>
            <a:ext cx="975360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06424" y="3602736"/>
            <a:ext cx="97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1B1B"/>
                </a:solidFill>
              </a:rPr>
              <a:t>예약 관리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118360" y="3602736"/>
            <a:ext cx="975360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18360" y="3602736"/>
            <a:ext cx="97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1B1B"/>
                </a:solidFill>
              </a:rPr>
              <a:t>직원 관리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130296" y="3602736"/>
            <a:ext cx="975360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30296" y="3602736"/>
            <a:ext cx="97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1B1B"/>
                </a:solidFill>
              </a:rPr>
              <a:t>규칙 관리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315968" y="183977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70832" y="183977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645152" y="183977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통계 4종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870448" y="183977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오늘 예약·총 예약·직원 수·재고 부족 건수 카드 표시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370832" y="207020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📈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645152" y="207020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진료과별 현황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870448" y="207020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전체 기간 진료과별 예약 건수 가로 바 표시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315968" y="230063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70832" y="230063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⚡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645152" y="230063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빠른 메뉴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870448" y="230063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예약 관리·직원 관리·규칙 관리 바로가기 버튼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315968" y="25786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89120" y="25786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4791456" y="275417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828032" y="275417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/admin/dashboard/stats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315968" y="2993746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89120" y="299374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389120" y="3169310"/>
            <a:ext cx="4590288" cy="29260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43984" y="320588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todayCount · totalCount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staffCount · lowStockCount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deptStats: List&lt;DeptStat&gt;</a:t>
            </a:r>
            <a:endParaRPr lang="en-US" sz="7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화면 18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전체 예약 목록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GET  /admin/reservation/list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admin/reservation-list.mustache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예약관리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228600" y="2615184"/>
            <a:ext cx="822960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진료과관리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106424" y="2194560"/>
            <a:ext cx="2999232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61288" y="2194560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날짜  2026-03-01 ~ 2026-03-15  |  상태 [전체▼]  진료과 [전체▼]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106424" y="2395728"/>
            <a:ext cx="299923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61288" y="2395728"/>
            <a:ext cx="16795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환자명 [___________]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2965948" y="2423160"/>
            <a:ext cx="347472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65948" y="242316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검색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3349996" y="2423160"/>
            <a:ext cx="347472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49996" y="242316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초기화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1106424" y="2596896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총 87건 중 20건 표시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106424" y="2743200"/>
            <a:ext cx="2999232" cy="1645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24712" y="274320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예약번호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1581912" y="274320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날짜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1965960" y="274320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환자명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2441448" y="2743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2843784" y="2743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의사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3246120" y="274320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상태·처리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1106424" y="2907792"/>
            <a:ext cx="2999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24712" y="290779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RES-001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1581912" y="290779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03/15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965960" y="290779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홍길동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2441448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외과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843784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김철수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3246120" y="290779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🟢 RECEIVED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1106424" y="3090672"/>
            <a:ext cx="2999232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24712" y="309067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RES-002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1581912" y="30906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03/15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1965960" y="30906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이영희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2441448" y="3090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내과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2843784" y="3090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이영수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3246120" y="3090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45309"/>
                </a:solidFill>
              </a:rPr>
              <a:t>🟡 RESERVED  [취소]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1106424" y="3273552"/>
            <a:ext cx="2999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24712" y="32735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RES-003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1581912" y="32735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03/14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1965960" y="32735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박민준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2441448" y="32735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피부과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2843784" y="32735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최지은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3246120" y="327355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✅ COMPLETED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1106424" y="3493008"/>
            <a:ext cx="2999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[이전]  ◀  1  2  3  4  5  ▶  [다음]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315968" y="183977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70832" y="183977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645152" y="183977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복합 필터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870448" y="183977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날짜 범위·상태·진료과·의사·환자명 동시 필터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4370832" y="207020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❌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645152" y="207020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예약 취소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870448" y="207020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COMPLETED 외 상태에 [취소] 버튼 표시 → 확인 모달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315968" y="230063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70832" y="230063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📄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4645152" y="230063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페이징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870448" y="230063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한 페이지 20건 / 총 건수 표시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315968" y="25786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89120" y="25786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791456" y="275417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828032" y="275417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/admin/reservation/list  ?startDate&amp;endDate&amp;status&amp;page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389120" y="2946197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89120" y="2946197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791456" y="2946197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828032" y="2946197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/admin/reservation/cancel  { reservationId }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4315968" y="3185770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389120" y="3185770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4389120" y="3361334"/>
            <a:ext cx="4590288" cy="31089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443984" y="339791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totalCount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reservations: Page&lt;Reservation&gt;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↳ {id, date, patient, dept, doctor, status}</a:t>
            </a:r>
            <a:endParaRPr lang="en-US" sz="7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화면 22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직원 목록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GET  /admin/staff/list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admin/staff-list.mustache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직원관리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28600" y="3072384"/>
            <a:ext cx="822960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진료과관리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410712" y="2194560"/>
            <a:ext cx="676656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0712" y="2194560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+ 직원 등록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106424" y="2395728"/>
            <a:ext cx="299923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61288" y="2395728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ROLE [전체▼]  재직 [재직중▼]  이름 [__________]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3374136" y="2423160"/>
            <a:ext cx="329184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74136" y="242316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검색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106424" y="2596896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총 12명 중 12명 표시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106424" y="2743200"/>
            <a:ext cx="2999232" cy="1645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24712" y="274320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이름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1563624" y="27432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아이디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2057400" y="274320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ROLE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532888" y="2743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2935224" y="274320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관리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1106424" y="2907792"/>
            <a:ext cx="2999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24712" y="290779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김철수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1563624" y="29077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doctor01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2057400" y="290779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</a:rPr>
              <a:t>DOCTOR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2532888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외과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2935224" y="290779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[수정] [비활성]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1106424" y="3090672"/>
            <a:ext cx="2999232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24712" y="309067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이민지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1563624" y="3090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staff01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2057400" y="30906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97316"/>
                </a:solidFill>
              </a:rPr>
              <a:t>STAFF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532888" y="3090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—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2935224" y="309067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[수정] [비활성]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1106424" y="3273552"/>
            <a:ext cx="2999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24712" y="327355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박지현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1563624" y="32735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nurse01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2057400" y="32735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B2777"/>
                </a:solidFill>
              </a:rPr>
              <a:t>NURSE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2532888" y="32735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3병동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2935224" y="32735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[수정] [비활성]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1106424" y="3493008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[이전]  1 / 1  [다음]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315968" y="183977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70832" y="183977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645152" y="183977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필터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870448" y="183977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ROLE·재직 여부·이름 복합 검색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370832" y="207020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✏️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4645152" y="207020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수정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870448" y="207020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→ /admin/staff/detail?staffId={id}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315968" y="230063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70832" y="230063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🚫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645152" y="230063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비활성화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870448" y="230063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확인 모달 후 is_active=FALSE 처리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315968" y="25786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89120" y="25786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791456" y="275417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828032" y="275417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/admin/staff/list  ?role&amp;active&amp;keyword&amp;page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4389120" y="2946197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89120" y="2946197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791456" y="2946197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828032" y="2946197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/admin/staff/deactivate  { staffId }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315968" y="3185770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89120" y="3185770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389120" y="3361334"/>
            <a:ext cx="4590288" cy="31089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443984" y="339791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totalCount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staffList: Page&lt;Staff&gt;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↳ {id, name, username, role, dept}</a:t>
            </a:r>
            <a:endParaRPr lang="en-US" sz="7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화면 23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직원 등록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GET  /admin/staff/new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admin/staff-new.mustache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직원관리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28600" y="3072384"/>
            <a:ext cx="822960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진료과관리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06424" y="2194560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기본 정보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106424" y="2350008"/>
            <a:ext cx="2999232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61288" y="2350008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아이디  *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746504" y="2377440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83080" y="2377440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admin_user  (영문·숫자 4~20자)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106424" y="2542032"/>
            <a:ext cx="2999232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61288" y="2542032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비밀번호 *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746504" y="2569464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83080" y="2569464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(영문·숫자·특수 8자 이상)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106424" y="2734056"/>
            <a:ext cx="2999232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61288" y="2734056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이름  *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746504" y="2761488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83080" y="2761488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홍길순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106424" y="2926080"/>
            <a:ext cx="2999232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61288" y="2926080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ROLE  *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746504" y="2953512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83080" y="2953512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[  DOCTOR  ▼  ]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106424" y="3154680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D4ED8"/>
                </a:solidFill>
              </a:rPr>
              <a:t>── 의사 전용 (DOCTOR 선택 시 노출)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106424" y="3310128"/>
            <a:ext cx="2999232" cy="1920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61288" y="3310128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D4ED8"/>
                </a:solidFill>
              </a:rPr>
              <a:t>진료과  *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746504" y="3337560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83080" y="3337560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[  외과  ▼  ]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106424" y="3502152"/>
            <a:ext cx="2999232" cy="1920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61288" y="3502152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D4ED8"/>
                </a:solidFill>
              </a:rPr>
              <a:t>진료 요일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746504" y="3529584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83080" y="3529584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☑월 ☑화 ☐수 ☑목 ☐금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106424" y="3749040"/>
            <a:ext cx="1472184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06424" y="374904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등록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633472" y="3749040"/>
            <a:ext cx="1472184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633472" y="374904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취소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06424" y="400507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1C1C"/>
                </a:solidFill>
              </a:rPr>
              <a:t>← 직원 목록으로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315968" y="183977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70832" y="183977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📝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645152" y="183977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기본 입력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870448" y="183977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아이디·비밀번호·이름·ROLE 필수 입력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370832" y="207020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🩺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645152" y="207020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DOCTOR 확장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870448" y="207020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ROLE=DOCTOR 선택 시 진료과·요일 필드 동적 노출 (JS)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315968" y="230063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70832" y="230063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🔒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645152" y="230063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아이디 중복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870448" y="230063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DUPLICATE_USERNAME 수신 시 필드 강조 + 인라인 오류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315968" y="25786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389120" y="25786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791456" y="275417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828032" y="275417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/admin/staff/create  { username, pw, name, role, dept? }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315968" y="2993746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389120" y="299374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🔴  오류 처리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4315968" y="3169310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407408" y="3169310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아이디 중복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300216" y="3169310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필드 강조 + 오류 메시지 인라인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315968" y="3377794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407408" y="3377794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필수 항목 미입력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300216" y="3377794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제출 차단 + 인라인 표시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4315968" y="3633826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389120" y="363382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389120" y="3809390"/>
            <a:ext cx="4590288" cy="20116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443984" y="384596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departments: List&lt;Department&gt;</a:t>
            </a:r>
            <a:endParaRPr lang="en-US" sz="7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화면 30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병원 규칙 목록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GET  /admin/rule/list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admin/rule-list.mustache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규칙관리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👥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🏥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진료과관리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28600" y="3986784"/>
            <a:ext cx="822960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106424" y="2176272"/>
            <a:ext cx="2999232" cy="14630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61288" y="2176272"/>
            <a:ext cx="2889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2400E"/>
                </a:solidFill>
              </a:rPr>
              <a:t>ℹ️  등록·수정된 규칙은 챗봇 답변에 즉시 반영됩니다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3410712" y="2359152"/>
            <a:ext cx="676656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10712" y="2359152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+ 규칙 등록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106424" y="2560320"/>
            <a:ext cx="299923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61288" y="2560320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카테고리 [전체▼]  활성 [활성▼]  제목 검색 [______________]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106424" y="2761488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총 8건 중 6건 표시 (활성)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106424" y="2907792"/>
            <a:ext cx="2999232" cy="1645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24712" y="2907792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규칙 제목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2039112" y="29077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카테고리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2551176" y="290779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상태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825496" y="290779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관리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1106424" y="3072384"/>
            <a:ext cx="2999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24712" y="3072384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응급 처치 절차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2039112" y="307238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EMERGENCY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2551176" y="3072384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🟢 활성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2825496" y="307238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[수정] [비활성]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106424" y="3255264"/>
            <a:ext cx="2999232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24712" y="3255264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물품 보관 위치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2039112" y="325526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SUPPLY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2551176" y="3255264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🟢 활성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825496" y="325526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[수정] [비활성]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1106424" y="3438144"/>
            <a:ext cx="2999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24712" y="3438144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당직 근무 규정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2039112" y="34381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DUTY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2551176" y="3438144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C2626"/>
                </a:solidFill>
              </a:rPr>
              <a:t>🔴 비활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2825496" y="343814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[수정] [활성화]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1106424" y="3657600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[이전]  1 / 1  [다음]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315968" y="183977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370832" y="183977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645152" y="183977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필터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870448" y="183977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카테고리·활성 여부·제목 복합 검색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370832" y="207020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🔄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645152" y="207020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토글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870448" y="207020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[비활성]/[활성화] 클릭 → 챗봇 컨텍스트 즉시 변경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315968" y="230063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70832" y="230063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4645152" y="230063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챗봇 연동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870448" y="230063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활성 규칙만 LLM 프롬프트 컨텍스트에 포함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315968" y="25786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89120" y="25786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791456" y="275417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28032" y="275417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/admin/rule/list  ?category&amp;active&amp;keyword&amp;page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4389120" y="2946197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89120" y="2946197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791456" y="2946197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828032" y="2946197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/admin/rule/toggleActive  { ruleId }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4315968" y="3185770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89120" y="3185770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389120" y="3361334"/>
            <a:ext cx="4590288" cy="31089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443984" y="339791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totalCount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rules: Page&lt;Rule&gt;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↳ {id, title, category, isActive}</a:t>
            </a:r>
            <a:endParaRPr lang="en-US" sz="7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화면 31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병원 규칙 등록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GET  /admin/rule/new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admin/rule-new.mustache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규칙관리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👥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🏥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진료과관리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28600" y="3986784"/>
            <a:ext cx="822960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106424" y="2176272"/>
            <a:ext cx="2999232" cy="14630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61288" y="2176272"/>
            <a:ext cx="2889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2400E"/>
                </a:solidFill>
              </a:rPr>
              <a:t>ℹ️  등록 즉시 챗봇 답변에 반영됩니다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106424" y="2359152"/>
            <a:ext cx="2999232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61288" y="235915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제목  *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764792" y="2386584"/>
            <a:ext cx="228600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01368" y="2386584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응급 처치 절차  (예: 응급 처치 절차)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106424" y="2551176"/>
            <a:ext cx="2999232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61288" y="2551176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카테고리  *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764792" y="2578608"/>
            <a:ext cx="228600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01368" y="2578608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[ EMERGENCY ▼ ]  EMERGENCY/SUPPLY/DUTY/HYGIENE/OTHER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161288" y="2743200"/>
            <a:ext cx="2889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규칙 내용  *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106424" y="2889504"/>
            <a:ext cx="29992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61288" y="2926080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규칙의 세부 내용을 입력하세요.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직원들이 챗봇에 질문할 때 이 내용을 바탕으로 답변됩니다.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465576" y="3236976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0 / 3000자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1106424" y="3401568"/>
            <a:ext cx="2999232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61288" y="340156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활성 여부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764792" y="34015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⦿ 활성  ○ 비활성  (비활성 시 챗봇 미반영)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1106424" y="3621024"/>
            <a:ext cx="1472184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06424" y="3621024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등록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633472" y="3621024"/>
            <a:ext cx="1472184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33472" y="3621024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취소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06424" y="3877056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1C1C"/>
                </a:solidFill>
              </a:rPr>
              <a:t>← 규칙 목록으로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315968" y="183977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70832" y="183977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📝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645152" y="183977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내용 입력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870448" y="183977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제목·카테고리·규칙내용(최대 3000자) 필수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370832" y="207020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🔢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645152" y="207020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글자 수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870448" y="207020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규칙 내용 실시간 카운터 표시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315968" y="230063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70832" y="230063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⚡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45152" y="230063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즉시 반영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70448" y="230063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활성 등록 시 챗봇 컨텍스트 즉시 적용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315968" y="25786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89120" y="25786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791456" y="275417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28032" y="275417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/admin/rule/create  { title, category, content, isActive }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315968" y="2993746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89120" y="299374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🔴  오류 처리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315968" y="3169310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407408" y="3169310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필수 항목 미입력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6300216" y="3169310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제출 차단 + 인라인 표시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315968" y="3425342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89120" y="342534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389120" y="3600907"/>
            <a:ext cx="4590288" cy="1828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443984" y="3637483"/>
            <a:ext cx="4480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</a:t>
            </a:r>
            <a:endParaRPr lang="en-US" sz="7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화면 25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진료과 목록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GET  /admin/department/list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admin/department-list.mustache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진료과관리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👥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228600" y="3529584"/>
            <a:ext cx="822960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진료과관리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374136" y="2176272"/>
            <a:ext cx="713232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74136" y="217627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+ 진료과 등록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106424" y="2377440"/>
            <a:ext cx="299923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61288" y="2377440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상태 [전체▼]  진료과명 [______________]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1106424" y="2578608"/>
            <a:ext cx="2999232" cy="20116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61288" y="2578608"/>
            <a:ext cx="17995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진료과명  [____________________]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025932" y="2606040"/>
            <a:ext cx="329184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25932" y="260604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등록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3391692" y="2606040"/>
            <a:ext cx="329184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91692" y="260604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닫기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1106424" y="2816352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총 6개 진료과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106424" y="2962656"/>
            <a:ext cx="2999232" cy="1645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24712" y="296265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진료과명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1801368" y="29626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소속의사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2167128" y="296265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상태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2514600" y="29626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관리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1106424" y="3127248"/>
            <a:ext cx="2999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24712" y="31272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내과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1801368" y="312724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2명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2167128" y="312724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🟢 활성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2514600" y="312724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[상세] [비활성]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1106424" y="3310128"/>
            <a:ext cx="2999232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24712" y="33101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외과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1801368" y="331012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2명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2167128" y="331012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🟢 활성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2514600" y="331012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[상세] [비활성]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106424" y="3493008"/>
            <a:ext cx="2999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24712" y="34930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피부과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1801368" y="349300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1명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2167128" y="349300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C2626"/>
                </a:solidFill>
              </a:rPr>
              <a:t>🔴 비활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2514600" y="34930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[상세] [활성화]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1106424" y="3712464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[이전]  1 / 1  [다음]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315968" y="183977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70832" y="183977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➕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645152" y="183977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인라인 등록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870448" y="183977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[+ 진료과 등록] 클릭 시 목록 상단에 입력 폼 노출 (페이지 이동 없음)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370832" y="207020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🔄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4645152" y="207020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활성·비활성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870448" y="207020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토글 → 예약 화면·LLM 프롬프트에서 즉시 제외/포함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315968" y="230063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70832" y="230063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👨‍⚕️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645152" y="230063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소속 의사 수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870448" y="230063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각 진료과 활성 의사 수 표시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315968" y="25786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89120" y="25786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791456" y="275417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828032" y="275417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/admin/department/list  ?active&amp;keyword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4389120" y="2946197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89120" y="2946197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791456" y="2946197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828032" y="2946197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/admin/department/create  { name }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389120" y="3138221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89120" y="3138221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791456" y="3138221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828032" y="3138221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/admin/department/deactivate  { departmentId }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15968" y="3377794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389120" y="337779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⚠️  비활성화 영향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315968" y="3553358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407408" y="3553358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예약 화면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6300216" y="3553358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해당 진료과 선택지에서 즉시 제외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4315968" y="3761842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407408" y="3761842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LLM 프롬프트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6300216" y="3761842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증상 추천 대상에서 즉시 제외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4315968" y="4017874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389120" y="401787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4389120" y="4193438"/>
            <a:ext cx="4590288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443984" y="423001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departments: List&lt;Department&gt;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↳ {id, name, doctorCount, isActive}</a:t>
            </a:r>
            <a:endParaRPr lang="en-US" sz="7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화면 25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진료과 등록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POST  /admin/department/create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admin/department-list.mustache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진료과관리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👥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228600" y="3529584"/>
            <a:ext cx="822960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진료과관리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106424" y="2194560"/>
            <a:ext cx="2999232" cy="146304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61288" y="2194560"/>
            <a:ext cx="2889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66534"/>
                </a:solidFill>
              </a:rPr>
              <a:t>ℹ️  진료과 등록 즉시 예약 화면·LLM 증상 추천에 반영됩니다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106424" y="2377440"/>
            <a:ext cx="2999232" cy="1828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61288" y="2377440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진료과 등록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106424" y="2560320"/>
            <a:ext cx="2999232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61288" y="25603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진료과명  *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746504" y="2587752"/>
            <a:ext cx="181051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83080" y="2587752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흉부외과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630168" y="2587752"/>
            <a:ext cx="402336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30168" y="258775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등록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161288" y="2788920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[ 닫기 ]  —  취소 시 폼 숨김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106424" y="2953512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현재 등록된 진료과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106424" y="3099816"/>
            <a:ext cx="2999232" cy="1645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24712" y="309981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진료과명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1728216" y="309981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소속의사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2075688" y="3099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상태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2386584" y="309981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관리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106424" y="3264408"/>
            <a:ext cx="2999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24712" y="326440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내과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728216" y="326440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2명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2075688" y="32644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🟢 활성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386584" y="326440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[상세] [비활성]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1106424" y="3447288"/>
            <a:ext cx="2999232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24712" y="34472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외과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1728216" y="344728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2명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2075688" y="34472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🟢 활성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2386584" y="344728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[상세] [비활성]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1106424" y="3630168"/>
            <a:ext cx="2999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24712" y="363016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피부과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1728216" y="363016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1명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2075688" y="36301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C2626"/>
                </a:solidFill>
              </a:rPr>
              <a:t>🔴 비활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2386584" y="363016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[상세] [활성화]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1106424" y="3813048"/>
            <a:ext cx="2999232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124712" y="38130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정신건강의학과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1728216" y="381304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0명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2075688" y="38130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🟢 활성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2386584" y="381304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[상세] [비활성]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1106424" y="4032504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1C1C"/>
                </a:solidFill>
              </a:rPr>
              <a:t>← 진료과 목록으로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315968" y="183977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70832" y="183977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📝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645152" y="183977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진료과명 입력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870448" y="183977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필수 입력, 중복 불가, 최대 50자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4370832" y="207020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⚡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645152" y="207020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즉시 반영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870448" y="207020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등록 완료 시 예약 화면 선택지 + LLM 증상 추천에 즉시 포함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315968" y="230063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70832" y="230063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🔄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4645152" y="230063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기본 활성 상태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870448" y="230063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등록 시 is_active=TRUE로 생성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315968" y="25786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89120" y="25786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791456" y="275417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828032" y="275417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/admin/department/create  { name }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315968" y="2993746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89120" y="299374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🔴  오류 처리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315968" y="3169310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07408" y="3169310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진료과명 중복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6300216" y="3169310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DUPLICATE_DEPT_NAME → 필드 강조 + 인라인 표시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4315968" y="3377794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407408" y="3377794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필수 항목 미입력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6300216" y="3377794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제출 차단 + 인라인 오류 표시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4315968" y="3633826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389120" y="363382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🔗  등록 후 동작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315968" y="380939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370832" y="38093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4645152" y="38093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성공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5870448" y="38093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완료 toast 표시 + 인라인 폼 닫힘 + 목록에 즉시 추가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315968" y="408736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389120" y="408736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4389120" y="4262933"/>
            <a:ext cx="4590288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443984" y="4299509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departments: List&lt;Department&gt;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↳ {id, name, doctorCount, isActive}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병원 시스템 사용자별 스토리보드</dc:title>
  <dc:subject>PptxGenJS Presentation</dc:subject>
  <dc:creator>Hospital Dev Team</dc:creator>
  <cp:lastModifiedBy>Hospital Dev Team</cp:lastModifiedBy>
  <cp:revision>1</cp:revision>
  <dcterms:created xsi:type="dcterms:W3CDTF">2026-02-27T12:03:03Z</dcterms:created>
  <dcterms:modified xsi:type="dcterms:W3CDTF">2026-02-27T12:03:03Z</dcterms:modified>
</cp:coreProperties>
</file>